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7" name="Shape 45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 defTabSz="1828849">
              <a:lnSpc>
                <a:spcPct val="100000"/>
              </a:lnSpc>
              <a:spcBef>
                <a:spcPts val="600"/>
              </a:spcBef>
              <a:defRPr spc="0" sz="88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 defTabSz="1828849">
              <a:lnSpc>
                <a:spcPct val="100000"/>
              </a:lnSpc>
              <a:spcBef>
                <a:spcPts val="600"/>
              </a:spcBef>
              <a:defRPr spc="0" sz="88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表紙_産総研案内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グループ化 81"/>
          <p:cNvGrpSpPr/>
          <p:nvPr/>
        </p:nvGrpSpPr>
        <p:grpSpPr>
          <a:xfrm>
            <a:off x="25055230" y="0"/>
            <a:ext cx="6422403" cy="9056539"/>
            <a:chOff x="0" y="0"/>
            <a:chExt cx="6422402" cy="9056538"/>
          </a:xfrm>
        </p:grpSpPr>
        <p:sp>
          <p:nvSpPr>
            <p:cNvPr id="169" name="object 5"/>
            <p:cNvSpPr txBox="1"/>
            <p:nvPr/>
          </p:nvSpPr>
          <p:spPr>
            <a:xfrm>
              <a:off x="4" y="219280"/>
              <a:ext cx="3101757" cy="254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indent="12695" defTabSz="914400">
                <a:lnSpc>
                  <a:spcPct val="120000"/>
                </a:lnSpc>
                <a:spcBef>
                  <a:spcPts val="200"/>
                </a:spcBef>
                <a:defRPr b="1" sz="2000">
                  <a:solidFill>
                    <a:srgbClr val="231F20"/>
                  </a:solidFill>
                  <a:latin typeface="游ゴシック"/>
                  <a:ea typeface="游ゴシック"/>
                  <a:cs typeface="游ゴシック"/>
                  <a:sym typeface="游ゴシック"/>
                </a:defRPr>
              </a:lvl1pPr>
            </a:lstStyle>
            <a:p>
              <a:pPr/>
              <a:r>
                <a:t>メインカラー</a:t>
              </a:r>
            </a:p>
          </p:txBody>
        </p:sp>
        <p:sp>
          <p:nvSpPr>
            <p:cNvPr id="170" name="直線コネクタ 83"/>
            <p:cNvSpPr/>
            <p:nvPr/>
          </p:nvSpPr>
          <p:spPr>
            <a:xfrm>
              <a:off x="1" y="0"/>
              <a:ext cx="642240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0"/>
                </a:spcBef>
                <a:defRPr sz="3600">
                  <a:latin typeface="游ゴシック"/>
                  <a:ea typeface="游ゴシック"/>
                  <a:cs typeface="游ゴシック"/>
                  <a:sym typeface="游ゴシック"/>
                </a:defRPr>
              </a:pPr>
            </a:p>
          </p:txBody>
        </p:sp>
        <p:grpSp>
          <p:nvGrpSpPr>
            <p:cNvPr id="173" name="object 11"/>
            <p:cNvGrpSpPr/>
            <p:nvPr/>
          </p:nvGrpSpPr>
          <p:grpSpPr>
            <a:xfrm>
              <a:off x="2" y="791536"/>
              <a:ext cx="1440001" cy="645343"/>
              <a:chOff x="0" y="0"/>
              <a:chExt cx="1440000" cy="645342"/>
            </a:xfrm>
          </p:grpSpPr>
          <p:sp>
            <p:nvSpPr>
              <p:cNvPr id="171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CF002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172" name="AIST RED"/>
              <p:cNvSpPr txBox="1"/>
              <p:nvPr/>
            </p:nvSpPr>
            <p:spPr>
              <a:xfrm>
                <a:off x="0" y="202175"/>
                <a:ext cx="1440001" cy="241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AIST RED</a:t>
                </a:r>
              </a:p>
            </p:txBody>
          </p:sp>
        </p:grpSp>
        <p:grpSp>
          <p:nvGrpSpPr>
            <p:cNvPr id="176" name="object 11"/>
            <p:cNvGrpSpPr/>
            <p:nvPr/>
          </p:nvGrpSpPr>
          <p:grpSpPr>
            <a:xfrm>
              <a:off x="1661758" y="791536"/>
              <a:ext cx="1440001" cy="645343"/>
              <a:chOff x="0" y="0"/>
              <a:chExt cx="1440000" cy="645342"/>
            </a:xfrm>
          </p:grpSpPr>
          <p:sp>
            <p:nvSpPr>
              <p:cNvPr id="174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175" name="Black"/>
              <p:cNvSpPr txBox="1"/>
              <p:nvPr/>
            </p:nvSpPr>
            <p:spPr>
              <a:xfrm>
                <a:off x="0" y="202175"/>
                <a:ext cx="1440001" cy="241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Black</a:t>
                </a:r>
              </a:p>
            </p:txBody>
          </p:sp>
        </p:grpSp>
        <p:grpSp>
          <p:nvGrpSpPr>
            <p:cNvPr id="179" name="object 11"/>
            <p:cNvGrpSpPr/>
            <p:nvPr/>
          </p:nvGrpSpPr>
          <p:grpSpPr>
            <a:xfrm>
              <a:off x="2" y="1512318"/>
              <a:ext cx="1440001" cy="645343"/>
              <a:chOff x="0" y="0"/>
              <a:chExt cx="1440000" cy="645342"/>
            </a:xfrm>
          </p:grpSpPr>
          <p:sp>
            <p:nvSpPr>
              <p:cNvPr id="177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DC5A7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178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182" name="object 11"/>
            <p:cNvGrpSpPr/>
            <p:nvPr/>
          </p:nvGrpSpPr>
          <p:grpSpPr>
            <a:xfrm>
              <a:off x="1661758" y="1512318"/>
              <a:ext cx="1440001" cy="645343"/>
              <a:chOff x="0" y="0"/>
              <a:chExt cx="1440000" cy="645342"/>
            </a:xfrm>
          </p:grpSpPr>
          <p:sp>
            <p:nvSpPr>
              <p:cNvPr id="180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181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185" name="object 11"/>
            <p:cNvGrpSpPr/>
            <p:nvPr/>
          </p:nvGrpSpPr>
          <p:grpSpPr>
            <a:xfrm>
              <a:off x="2" y="2233099"/>
              <a:ext cx="1440001" cy="645344"/>
              <a:chOff x="0" y="0"/>
              <a:chExt cx="1440000" cy="645342"/>
            </a:xfrm>
          </p:grpSpPr>
          <p:sp>
            <p:nvSpPr>
              <p:cNvPr id="183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FFC2C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184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188" name="object 11"/>
            <p:cNvGrpSpPr/>
            <p:nvPr/>
          </p:nvGrpSpPr>
          <p:grpSpPr>
            <a:xfrm>
              <a:off x="1661758" y="2233099"/>
              <a:ext cx="1440001" cy="645344"/>
              <a:chOff x="0" y="0"/>
              <a:chExt cx="1440000" cy="645342"/>
            </a:xfrm>
          </p:grpSpPr>
          <p:sp>
            <p:nvSpPr>
              <p:cNvPr id="186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D4D4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187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191" name="object 11"/>
            <p:cNvGrpSpPr/>
            <p:nvPr/>
          </p:nvGrpSpPr>
          <p:grpSpPr>
            <a:xfrm>
              <a:off x="2" y="2953884"/>
              <a:ext cx="1440001" cy="645343"/>
              <a:chOff x="0" y="0"/>
              <a:chExt cx="1440000" cy="645342"/>
            </a:xfrm>
          </p:grpSpPr>
          <p:sp>
            <p:nvSpPr>
              <p:cNvPr id="189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FFE5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190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194" name="object 11"/>
            <p:cNvGrpSpPr/>
            <p:nvPr/>
          </p:nvGrpSpPr>
          <p:grpSpPr>
            <a:xfrm>
              <a:off x="1661758" y="2953884"/>
              <a:ext cx="1440001" cy="645343"/>
              <a:chOff x="0" y="0"/>
              <a:chExt cx="1440000" cy="645342"/>
            </a:xfrm>
          </p:grpSpPr>
          <p:sp>
            <p:nvSpPr>
              <p:cNvPr id="192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EBEB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193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224" name="グループ化 92"/>
            <p:cNvGrpSpPr/>
            <p:nvPr/>
          </p:nvGrpSpPr>
          <p:grpSpPr>
            <a:xfrm>
              <a:off x="-1" y="6890371"/>
              <a:ext cx="6422402" cy="2166168"/>
              <a:chOff x="0" y="0"/>
              <a:chExt cx="6422400" cy="2166166"/>
            </a:xfrm>
          </p:grpSpPr>
          <p:sp>
            <p:nvSpPr>
              <p:cNvPr id="195" name="直線コネクタ 105"/>
              <p:cNvSpPr/>
              <p:nvPr/>
            </p:nvSpPr>
            <p:spPr>
              <a:xfrm>
                <a:off x="-1" y="0"/>
                <a:ext cx="642240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grpSp>
            <p:nvGrpSpPr>
              <p:cNvPr id="223" name="グループ化 106"/>
              <p:cNvGrpSpPr/>
              <p:nvPr/>
            </p:nvGrpSpPr>
            <p:grpSpPr>
              <a:xfrm>
                <a:off x="2" y="219279"/>
                <a:ext cx="6421185" cy="1946888"/>
                <a:chOff x="0" y="0"/>
                <a:chExt cx="6421183" cy="1946886"/>
              </a:xfrm>
            </p:grpSpPr>
            <p:sp>
              <p:nvSpPr>
                <p:cNvPr id="196" name="object 5"/>
                <p:cNvSpPr txBox="1"/>
                <p:nvPr/>
              </p:nvSpPr>
              <p:spPr>
                <a:xfrm>
                  <a:off x="1" y="-1"/>
                  <a:ext cx="3101757" cy="254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 indent="12695" defTabSz="914400">
                    <a:lnSpc>
                      <a:spcPct val="120000"/>
                    </a:lnSpc>
                    <a:spcBef>
                      <a:spcPts val="200"/>
                    </a:spcBef>
                    <a:defRPr b="1" sz="2000">
                      <a:solidFill>
                        <a:srgbClr val="231F20"/>
                      </a:solidFill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領域カラー</a:t>
                  </a:r>
                </a:p>
              </p:txBody>
            </p:sp>
            <p:grpSp>
              <p:nvGrpSpPr>
                <p:cNvPr id="199" name="object 11"/>
                <p:cNvGrpSpPr/>
                <p:nvPr/>
              </p:nvGrpSpPr>
              <p:grpSpPr>
                <a:xfrm>
                  <a:off x="-1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197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8EB51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198" name="エネ・環境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エネ・環境</a:t>
                    </a:r>
                  </a:p>
                </p:txBody>
              </p:sp>
            </p:grpSp>
            <p:grpSp>
              <p:nvGrpSpPr>
                <p:cNvPr id="202" name="object 11"/>
                <p:cNvGrpSpPr/>
                <p:nvPr/>
              </p:nvGrpSpPr>
              <p:grpSpPr>
                <a:xfrm>
                  <a:off x="1661755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00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E0307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01" name="生命工学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生命工学</a:t>
                    </a:r>
                  </a:p>
                </p:txBody>
              </p:sp>
            </p:grpSp>
            <p:grpSp>
              <p:nvGrpSpPr>
                <p:cNvPr id="205" name="object 11"/>
                <p:cNvGrpSpPr/>
                <p:nvPr/>
              </p:nvGrpSpPr>
              <p:grpSpPr>
                <a:xfrm>
                  <a:off x="3321470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03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8E6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04" name="情報・人間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情報・人間</a:t>
                    </a:r>
                  </a:p>
                </p:txBody>
              </p:sp>
            </p:grpSp>
            <p:grpSp>
              <p:nvGrpSpPr>
                <p:cNvPr id="208" name="object 11"/>
                <p:cNvGrpSpPr/>
                <p:nvPr/>
              </p:nvGrpSpPr>
              <p:grpSpPr>
                <a:xfrm>
                  <a:off x="4981183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06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AE308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07" name="材料・化学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材料・化学</a:t>
                    </a:r>
                  </a:p>
                </p:txBody>
              </p:sp>
            </p:grpSp>
            <p:grpSp>
              <p:nvGrpSpPr>
                <p:cNvPr id="211" name="object 11"/>
                <p:cNvGrpSpPr/>
                <p:nvPr/>
              </p:nvGrpSpPr>
              <p:grpSpPr>
                <a:xfrm>
                  <a:off x="-1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09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6F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10" name="エレ・製造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エレ・製造</a:t>
                    </a:r>
                  </a:p>
                </p:txBody>
              </p:sp>
            </p:grpSp>
            <p:grpSp>
              <p:nvGrpSpPr>
                <p:cNvPr id="214" name="object 11"/>
                <p:cNvGrpSpPr/>
                <p:nvPr/>
              </p:nvGrpSpPr>
              <p:grpSpPr>
                <a:xfrm>
                  <a:off x="1661755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12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CB4D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13" name="地質調査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地質調査</a:t>
                    </a:r>
                  </a:p>
                </p:txBody>
              </p:sp>
            </p:grpSp>
            <p:grpSp>
              <p:nvGrpSpPr>
                <p:cNvPr id="217" name="object 11"/>
                <p:cNvGrpSpPr/>
                <p:nvPr/>
              </p:nvGrpSpPr>
              <p:grpSpPr>
                <a:xfrm>
                  <a:off x="4981183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15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26B7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16" name="量子・AI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  <a:r>
                      <a:t>量子・</a:t>
                    </a:r>
                    <a:r>
                      <a:t>AI</a:t>
                    </a:r>
                  </a:p>
                </p:txBody>
              </p:sp>
            </p:grpSp>
            <p:grpSp>
              <p:nvGrpSpPr>
                <p:cNvPr id="222" name="グループ化 115"/>
                <p:cNvGrpSpPr/>
                <p:nvPr/>
              </p:nvGrpSpPr>
              <p:grpSpPr>
                <a:xfrm>
                  <a:off x="3321470" y="1301389"/>
                  <a:ext cx="1440001" cy="645498"/>
                  <a:chOff x="0" y="0"/>
                  <a:chExt cx="1440000" cy="645497"/>
                </a:xfrm>
              </p:grpSpPr>
              <p:grpSp>
                <p:nvGrpSpPr>
                  <p:cNvPr id="220" name="グループ化 116"/>
                  <p:cNvGrpSpPr/>
                  <p:nvPr/>
                </p:nvGrpSpPr>
                <p:grpSpPr>
                  <a:xfrm>
                    <a:off x="-1" y="0"/>
                    <a:ext cx="1439311" cy="645498"/>
                    <a:chOff x="0" y="0"/>
                    <a:chExt cx="1439309" cy="645497"/>
                  </a:xfrm>
                </p:grpSpPr>
                <p:sp>
                  <p:nvSpPr>
                    <p:cNvPr id="218" name="object 11"/>
                    <p:cNvSpPr/>
                    <p:nvPr/>
                  </p:nvSpPr>
                  <p:spPr>
                    <a:xfrm>
                      <a:off x="0" y="0"/>
                      <a:ext cx="1439310" cy="322672"/>
                    </a:xfrm>
                    <a:prstGeom prst="rect">
                      <a:avLst/>
                    </a:prstGeom>
                    <a:solidFill>
                      <a:srgbClr val="00A95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defRPr b="1" sz="160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  <a:sym typeface="游ゴシック"/>
                        </a:defRPr>
                      </a:pPr>
                    </a:p>
                  </p:txBody>
                </p:sp>
                <p:sp>
                  <p:nvSpPr>
                    <p:cNvPr id="219" name="object 11"/>
                    <p:cNvSpPr/>
                    <p:nvPr/>
                  </p:nvSpPr>
                  <p:spPr>
                    <a:xfrm>
                      <a:off x="0" y="322825"/>
                      <a:ext cx="1439310" cy="322673"/>
                    </a:xfrm>
                    <a:prstGeom prst="rect">
                      <a:avLst/>
                    </a:prstGeom>
                    <a:solidFill>
                      <a:srgbClr val="0092D7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defRPr b="1" sz="160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  <a:sym typeface="游ゴシック"/>
                        </a:defRPr>
                      </a:pPr>
                    </a:p>
                  </p:txBody>
                </p:sp>
              </p:grpSp>
              <p:sp>
                <p:nvSpPr>
                  <p:cNvPr id="221" name="object 11"/>
                  <p:cNvSpPr txBox="1"/>
                  <p:nvPr/>
                </p:nvSpPr>
                <p:spPr>
                  <a:xfrm>
                    <a:off x="0" y="221226"/>
                    <a:ext cx="1440000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計量標準</a:t>
                    </a:r>
                  </a:p>
                </p:txBody>
              </p:sp>
            </p:grpSp>
          </p:grpSp>
        </p:grpSp>
        <p:grpSp>
          <p:nvGrpSpPr>
            <p:cNvPr id="252" name="グループ化 93"/>
            <p:cNvGrpSpPr/>
            <p:nvPr/>
          </p:nvGrpSpPr>
          <p:grpSpPr>
            <a:xfrm>
              <a:off x="-1" y="4165969"/>
              <a:ext cx="6422402" cy="2157659"/>
              <a:chOff x="0" y="0"/>
              <a:chExt cx="6422400" cy="2157658"/>
            </a:xfrm>
          </p:grpSpPr>
          <p:sp>
            <p:nvSpPr>
              <p:cNvPr id="225" name="object 5"/>
              <p:cNvSpPr txBox="1"/>
              <p:nvPr/>
            </p:nvSpPr>
            <p:spPr>
              <a:xfrm>
                <a:off x="4" y="219279"/>
                <a:ext cx="3101757" cy="254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indent="12695" defTabSz="914400">
                  <a:lnSpc>
                    <a:spcPct val="120000"/>
                  </a:lnSpc>
                  <a:spcBef>
                    <a:spcPts val="200"/>
                  </a:spcBef>
                  <a:defRPr b="1" sz="2000">
                    <a:solidFill>
                      <a:srgbClr val="231F20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サブカラー</a:t>
                </a:r>
              </a:p>
            </p:txBody>
          </p:sp>
          <p:sp>
            <p:nvSpPr>
              <p:cNvPr id="226" name="直線コネクタ 95"/>
              <p:cNvSpPr/>
              <p:nvPr/>
            </p:nvSpPr>
            <p:spPr>
              <a:xfrm>
                <a:off x="0" y="0"/>
                <a:ext cx="6422401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grpSp>
            <p:nvGrpSpPr>
              <p:cNvPr id="229" name="object 11"/>
              <p:cNvGrpSpPr/>
              <p:nvPr/>
            </p:nvGrpSpPr>
            <p:grpSpPr>
              <a:xfrm>
                <a:off x="1661758" y="1512315"/>
                <a:ext cx="1440001" cy="645344"/>
                <a:chOff x="0" y="0"/>
                <a:chExt cx="1440000" cy="645342"/>
              </a:xfrm>
            </p:grpSpPr>
            <p:sp>
              <p:nvSpPr>
                <p:cNvPr id="227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C8F1E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228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232" name="object 11"/>
              <p:cNvGrpSpPr/>
              <p:nvPr/>
            </p:nvGrpSpPr>
            <p:grpSpPr>
              <a:xfrm>
                <a:off x="3321472" y="1512315"/>
                <a:ext cx="1440001" cy="645344"/>
                <a:chOff x="0" y="0"/>
                <a:chExt cx="1440000" cy="645342"/>
              </a:xfrm>
            </p:grpSpPr>
            <p:sp>
              <p:nvSpPr>
                <p:cNvPr id="230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BFE7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231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235" name="object 11"/>
              <p:cNvGrpSpPr/>
              <p:nvPr/>
            </p:nvGrpSpPr>
            <p:grpSpPr>
              <a:xfrm>
                <a:off x="2" y="1512315"/>
                <a:ext cx="1440001" cy="645344"/>
                <a:chOff x="0" y="0"/>
                <a:chExt cx="1440000" cy="645342"/>
              </a:xfrm>
            </p:grpSpPr>
            <p:sp>
              <p:nvSpPr>
                <p:cNvPr id="233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FDD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sz="3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234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248" name="グループ化 99"/>
              <p:cNvGrpSpPr/>
              <p:nvPr/>
            </p:nvGrpSpPr>
            <p:grpSpPr>
              <a:xfrm>
                <a:off x="2" y="791535"/>
                <a:ext cx="6421185" cy="645344"/>
                <a:chOff x="0" y="0"/>
                <a:chExt cx="6421183" cy="645342"/>
              </a:xfrm>
            </p:grpSpPr>
            <p:grpSp>
              <p:nvGrpSpPr>
                <p:cNvPr id="238" name="object 11"/>
                <p:cNvGrpSpPr/>
                <p:nvPr/>
              </p:nvGrpSpPr>
              <p:grpSpPr>
                <a:xfrm>
                  <a:off x="1661755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236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22857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37" name="Green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Green</a:t>
                    </a:r>
                  </a:p>
                </p:txBody>
              </p:sp>
            </p:grpSp>
            <p:grpSp>
              <p:nvGrpSpPr>
                <p:cNvPr id="241" name="object 11"/>
                <p:cNvGrpSpPr/>
                <p:nvPr/>
              </p:nvGrpSpPr>
              <p:grpSpPr>
                <a:xfrm>
                  <a:off x="3321470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239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77C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40" name="Blu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Blue</a:t>
                    </a:r>
                  </a:p>
                </p:txBody>
              </p:sp>
            </p:grpSp>
            <p:grpSp>
              <p:nvGrpSpPr>
                <p:cNvPr id="244" name="object 11"/>
                <p:cNvGrpSpPr/>
                <p:nvPr/>
              </p:nvGrpSpPr>
              <p:grpSpPr>
                <a:xfrm>
                  <a:off x="0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242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F5963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43" name="Orang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Orange</a:t>
                    </a:r>
                  </a:p>
                </p:txBody>
              </p:sp>
            </p:grpSp>
            <p:grpSp>
              <p:nvGrpSpPr>
                <p:cNvPr id="247" name="object 11"/>
                <p:cNvGrpSpPr/>
                <p:nvPr/>
              </p:nvGrpSpPr>
              <p:grpSpPr>
                <a:xfrm>
                  <a:off x="4981183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245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7030A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46" name="Purpl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Purple</a:t>
                    </a:r>
                  </a:p>
                </p:txBody>
              </p:sp>
            </p:grpSp>
          </p:grpSp>
          <p:grpSp>
            <p:nvGrpSpPr>
              <p:cNvPr id="251" name="object 11"/>
              <p:cNvGrpSpPr/>
              <p:nvPr/>
            </p:nvGrpSpPr>
            <p:grpSpPr>
              <a:xfrm>
                <a:off x="4981186" y="1512315"/>
                <a:ext cx="1440001" cy="645344"/>
                <a:chOff x="0" y="0"/>
                <a:chExt cx="1440000" cy="645342"/>
              </a:xfrm>
            </p:grpSpPr>
            <p:sp>
              <p:nvSpPr>
                <p:cNvPr id="249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E4D7E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sz="3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250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</p:grpSp>
      </p:grpSp>
      <p:pic>
        <p:nvPicPr>
          <p:cNvPr id="254" name="図 3" descr="図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0" y="0"/>
            <a:ext cx="18288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グラフィックス 2" descr="グラフィックス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959" y="406400"/>
            <a:ext cx="3823948" cy="1461451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914400">
              <a:defRPr sz="2400">
                <a:latin typeface="游ゴシック"/>
                <a:ea typeface="游ゴシック"/>
                <a:cs typeface="游ゴシック"/>
                <a:sym typeface="游ゴシック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表紙_研究発表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グループ化 81"/>
          <p:cNvGrpSpPr/>
          <p:nvPr/>
        </p:nvGrpSpPr>
        <p:grpSpPr>
          <a:xfrm>
            <a:off x="25055230" y="0"/>
            <a:ext cx="6422403" cy="9056539"/>
            <a:chOff x="0" y="0"/>
            <a:chExt cx="6422402" cy="9056538"/>
          </a:xfrm>
        </p:grpSpPr>
        <p:sp>
          <p:nvSpPr>
            <p:cNvPr id="263" name="object 5"/>
            <p:cNvSpPr txBox="1"/>
            <p:nvPr/>
          </p:nvSpPr>
          <p:spPr>
            <a:xfrm>
              <a:off x="4" y="219280"/>
              <a:ext cx="3101757" cy="254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indent="12695" defTabSz="914400">
                <a:lnSpc>
                  <a:spcPct val="120000"/>
                </a:lnSpc>
                <a:spcBef>
                  <a:spcPts val="200"/>
                </a:spcBef>
                <a:defRPr b="1" sz="2000">
                  <a:solidFill>
                    <a:srgbClr val="231F20"/>
                  </a:solidFill>
                  <a:latin typeface="游ゴシック"/>
                  <a:ea typeface="游ゴシック"/>
                  <a:cs typeface="游ゴシック"/>
                  <a:sym typeface="游ゴシック"/>
                </a:defRPr>
              </a:lvl1pPr>
            </a:lstStyle>
            <a:p>
              <a:pPr/>
              <a:r>
                <a:t>メインカラー</a:t>
              </a:r>
            </a:p>
          </p:txBody>
        </p:sp>
        <p:sp>
          <p:nvSpPr>
            <p:cNvPr id="264" name="直線コネクタ 83"/>
            <p:cNvSpPr/>
            <p:nvPr/>
          </p:nvSpPr>
          <p:spPr>
            <a:xfrm>
              <a:off x="1" y="0"/>
              <a:ext cx="642240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0"/>
                </a:spcBef>
                <a:defRPr sz="3600">
                  <a:latin typeface="游ゴシック"/>
                  <a:ea typeface="游ゴシック"/>
                  <a:cs typeface="游ゴシック"/>
                  <a:sym typeface="游ゴシック"/>
                </a:defRPr>
              </a:pPr>
            </a:p>
          </p:txBody>
        </p:sp>
        <p:grpSp>
          <p:nvGrpSpPr>
            <p:cNvPr id="267" name="object 11"/>
            <p:cNvGrpSpPr/>
            <p:nvPr/>
          </p:nvGrpSpPr>
          <p:grpSpPr>
            <a:xfrm>
              <a:off x="2" y="791536"/>
              <a:ext cx="1440001" cy="645343"/>
              <a:chOff x="0" y="0"/>
              <a:chExt cx="1440000" cy="645342"/>
            </a:xfrm>
          </p:grpSpPr>
          <p:sp>
            <p:nvSpPr>
              <p:cNvPr id="265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CF002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266" name="AIST RED"/>
              <p:cNvSpPr txBox="1"/>
              <p:nvPr/>
            </p:nvSpPr>
            <p:spPr>
              <a:xfrm>
                <a:off x="0" y="202175"/>
                <a:ext cx="1440001" cy="241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AIST RED</a:t>
                </a:r>
              </a:p>
            </p:txBody>
          </p:sp>
        </p:grpSp>
        <p:grpSp>
          <p:nvGrpSpPr>
            <p:cNvPr id="270" name="object 11"/>
            <p:cNvGrpSpPr/>
            <p:nvPr/>
          </p:nvGrpSpPr>
          <p:grpSpPr>
            <a:xfrm>
              <a:off x="1661758" y="791536"/>
              <a:ext cx="1440001" cy="645343"/>
              <a:chOff x="0" y="0"/>
              <a:chExt cx="1440000" cy="645342"/>
            </a:xfrm>
          </p:grpSpPr>
          <p:sp>
            <p:nvSpPr>
              <p:cNvPr id="268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269" name="Black"/>
              <p:cNvSpPr txBox="1"/>
              <p:nvPr/>
            </p:nvSpPr>
            <p:spPr>
              <a:xfrm>
                <a:off x="0" y="202175"/>
                <a:ext cx="1440001" cy="241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Black</a:t>
                </a:r>
              </a:p>
            </p:txBody>
          </p:sp>
        </p:grpSp>
        <p:grpSp>
          <p:nvGrpSpPr>
            <p:cNvPr id="273" name="object 11"/>
            <p:cNvGrpSpPr/>
            <p:nvPr/>
          </p:nvGrpSpPr>
          <p:grpSpPr>
            <a:xfrm>
              <a:off x="2" y="1512318"/>
              <a:ext cx="1440001" cy="645343"/>
              <a:chOff x="0" y="0"/>
              <a:chExt cx="1440000" cy="645342"/>
            </a:xfrm>
          </p:grpSpPr>
          <p:sp>
            <p:nvSpPr>
              <p:cNvPr id="271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DC5A7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272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276" name="object 11"/>
            <p:cNvGrpSpPr/>
            <p:nvPr/>
          </p:nvGrpSpPr>
          <p:grpSpPr>
            <a:xfrm>
              <a:off x="1661758" y="1512318"/>
              <a:ext cx="1440001" cy="645343"/>
              <a:chOff x="0" y="0"/>
              <a:chExt cx="1440000" cy="645342"/>
            </a:xfrm>
          </p:grpSpPr>
          <p:sp>
            <p:nvSpPr>
              <p:cNvPr id="274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275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279" name="object 11"/>
            <p:cNvGrpSpPr/>
            <p:nvPr/>
          </p:nvGrpSpPr>
          <p:grpSpPr>
            <a:xfrm>
              <a:off x="2" y="2233099"/>
              <a:ext cx="1440001" cy="645344"/>
              <a:chOff x="0" y="0"/>
              <a:chExt cx="1440000" cy="645342"/>
            </a:xfrm>
          </p:grpSpPr>
          <p:sp>
            <p:nvSpPr>
              <p:cNvPr id="277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FFC2C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278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282" name="object 11"/>
            <p:cNvGrpSpPr/>
            <p:nvPr/>
          </p:nvGrpSpPr>
          <p:grpSpPr>
            <a:xfrm>
              <a:off x="1661758" y="2233099"/>
              <a:ext cx="1440001" cy="645344"/>
              <a:chOff x="0" y="0"/>
              <a:chExt cx="1440000" cy="645342"/>
            </a:xfrm>
          </p:grpSpPr>
          <p:sp>
            <p:nvSpPr>
              <p:cNvPr id="280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D4D4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281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285" name="object 11"/>
            <p:cNvGrpSpPr/>
            <p:nvPr/>
          </p:nvGrpSpPr>
          <p:grpSpPr>
            <a:xfrm>
              <a:off x="2" y="2953884"/>
              <a:ext cx="1440001" cy="645343"/>
              <a:chOff x="0" y="0"/>
              <a:chExt cx="1440000" cy="645342"/>
            </a:xfrm>
          </p:grpSpPr>
          <p:sp>
            <p:nvSpPr>
              <p:cNvPr id="283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FFE5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284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288" name="object 11"/>
            <p:cNvGrpSpPr/>
            <p:nvPr/>
          </p:nvGrpSpPr>
          <p:grpSpPr>
            <a:xfrm>
              <a:off x="1661758" y="2953884"/>
              <a:ext cx="1440001" cy="645343"/>
              <a:chOff x="0" y="0"/>
              <a:chExt cx="1440000" cy="645342"/>
            </a:xfrm>
          </p:grpSpPr>
          <p:sp>
            <p:nvSpPr>
              <p:cNvPr id="286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EBEB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287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318" name="グループ化 92"/>
            <p:cNvGrpSpPr/>
            <p:nvPr/>
          </p:nvGrpSpPr>
          <p:grpSpPr>
            <a:xfrm>
              <a:off x="-1" y="6890371"/>
              <a:ext cx="6422402" cy="2166168"/>
              <a:chOff x="0" y="0"/>
              <a:chExt cx="6422400" cy="2166166"/>
            </a:xfrm>
          </p:grpSpPr>
          <p:sp>
            <p:nvSpPr>
              <p:cNvPr id="289" name="直線コネクタ 105"/>
              <p:cNvSpPr/>
              <p:nvPr/>
            </p:nvSpPr>
            <p:spPr>
              <a:xfrm>
                <a:off x="-1" y="0"/>
                <a:ext cx="642240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grpSp>
            <p:nvGrpSpPr>
              <p:cNvPr id="317" name="グループ化 106"/>
              <p:cNvGrpSpPr/>
              <p:nvPr/>
            </p:nvGrpSpPr>
            <p:grpSpPr>
              <a:xfrm>
                <a:off x="2" y="219279"/>
                <a:ext cx="6421185" cy="1946888"/>
                <a:chOff x="0" y="0"/>
                <a:chExt cx="6421183" cy="1946886"/>
              </a:xfrm>
            </p:grpSpPr>
            <p:sp>
              <p:nvSpPr>
                <p:cNvPr id="290" name="object 5"/>
                <p:cNvSpPr txBox="1"/>
                <p:nvPr/>
              </p:nvSpPr>
              <p:spPr>
                <a:xfrm>
                  <a:off x="1" y="-1"/>
                  <a:ext cx="3101757" cy="254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 indent="12695" defTabSz="914400">
                    <a:lnSpc>
                      <a:spcPct val="120000"/>
                    </a:lnSpc>
                    <a:spcBef>
                      <a:spcPts val="200"/>
                    </a:spcBef>
                    <a:defRPr b="1" sz="2000">
                      <a:solidFill>
                        <a:srgbClr val="231F20"/>
                      </a:solidFill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領域カラー</a:t>
                  </a:r>
                </a:p>
              </p:txBody>
            </p:sp>
            <p:grpSp>
              <p:nvGrpSpPr>
                <p:cNvPr id="293" name="object 11"/>
                <p:cNvGrpSpPr/>
                <p:nvPr/>
              </p:nvGrpSpPr>
              <p:grpSpPr>
                <a:xfrm>
                  <a:off x="-1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91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8EB51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92" name="エネ・環境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エネ・環境</a:t>
                    </a:r>
                  </a:p>
                </p:txBody>
              </p:sp>
            </p:grpSp>
            <p:grpSp>
              <p:nvGrpSpPr>
                <p:cNvPr id="296" name="object 11"/>
                <p:cNvGrpSpPr/>
                <p:nvPr/>
              </p:nvGrpSpPr>
              <p:grpSpPr>
                <a:xfrm>
                  <a:off x="1661755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94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E0307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95" name="生命工学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生命工学</a:t>
                    </a:r>
                  </a:p>
                </p:txBody>
              </p:sp>
            </p:grpSp>
            <p:grpSp>
              <p:nvGrpSpPr>
                <p:cNvPr id="299" name="object 11"/>
                <p:cNvGrpSpPr/>
                <p:nvPr/>
              </p:nvGrpSpPr>
              <p:grpSpPr>
                <a:xfrm>
                  <a:off x="3321470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297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8E6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298" name="情報・人間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情報・人間</a:t>
                    </a:r>
                  </a:p>
                </p:txBody>
              </p:sp>
            </p:grpSp>
            <p:grpSp>
              <p:nvGrpSpPr>
                <p:cNvPr id="302" name="object 11"/>
                <p:cNvGrpSpPr/>
                <p:nvPr/>
              </p:nvGrpSpPr>
              <p:grpSpPr>
                <a:xfrm>
                  <a:off x="4981183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300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AE308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01" name="材料・化学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材料・化学</a:t>
                    </a:r>
                  </a:p>
                </p:txBody>
              </p:sp>
            </p:grpSp>
            <p:grpSp>
              <p:nvGrpSpPr>
                <p:cNvPr id="305" name="object 11"/>
                <p:cNvGrpSpPr/>
                <p:nvPr/>
              </p:nvGrpSpPr>
              <p:grpSpPr>
                <a:xfrm>
                  <a:off x="-1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303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6F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04" name="エレ・製造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エレ・製造</a:t>
                    </a:r>
                  </a:p>
                </p:txBody>
              </p:sp>
            </p:grpSp>
            <p:grpSp>
              <p:nvGrpSpPr>
                <p:cNvPr id="308" name="object 11"/>
                <p:cNvGrpSpPr/>
                <p:nvPr/>
              </p:nvGrpSpPr>
              <p:grpSpPr>
                <a:xfrm>
                  <a:off x="1661755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306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CB4D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07" name="地質調査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地質調査</a:t>
                    </a:r>
                  </a:p>
                </p:txBody>
              </p:sp>
            </p:grpSp>
            <p:grpSp>
              <p:nvGrpSpPr>
                <p:cNvPr id="311" name="object 11"/>
                <p:cNvGrpSpPr/>
                <p:nvPr/>
              </p:nvGrpSpPr>
              <p:grpSpPr>
                <a:xfrm>
                  <a:off x="4981183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309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26B7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10" name="量子・AI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  <a:r>
                      <a:t>量子・</a:t>
                    </a:r>
                    <a:r>
                      <a:t>AI</a:t>
                    </a:r>
                  </a:p>
                </p:txBody>
              </p:sp>
            </p:grpSp>
            <p:grpSp>
              <p:nvGrpSpPr>
                <p:cNvPr id="316" name="グループ化 115"/>
                <p:cNvGrpSpPr/>
                <p:nvPr/>
              </p:nvGrpSpPr>
              <p:grpSpPr>
                <a:xfrm>
                  <a:off x="3321470" y="1301389"/>
                  <a:ext cx="1440001" cy="645498"/>
                  <a:chOff x="0" y="0"/>
                  <a:chExt cx="1440000" cy="645497"/>
                </a:xfrm>
              </p:grpSpPr>
              <p:grpSp>
                <p:nvGrpSpPr>
                  <p:cNvPr id="314" name="グループ化 116"/>
                  <p:cNvGrpSpPr/>
                  <p:nvPr/>
                </p:nvGrpSpPr>
                <p:grpSpPr>
                  <a:xfrm>
                    <a:off x="-1" y="0"/>
                    <a:ext cx="1439311" cy="645498"/>
                    <a:chOff x="0" y="0"/>
                    <a:chExt cx="1439309" cy="645497"/>
                  </a:xfrm>
                </p:grpSpPr>
                <p:sp>
                  <p:nvSpPr>
                    <p:cNvPr id="312" name="object 11"/>
                    <p:cNvSpPr/>
                    <p:nvPr/>
                  </p:nvSpPr>
                  <p:spPr>
                    <a:xfrm>
                      <a:off x="0" y="0"/>
                      <a:ext cx="1439310" cy="322672"/>
                    </a:xfrm>
                    <a:prstGeom prst="rect">
                      <a:avLst/>
                    </a:prstGeom>
                    <a:solidFill>
                      <a:srgbClr val="00A95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defRPr b="1" sz="160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  <a:sym typeface="游ゴシック"/>
                        </a:defRPr>
                      </a:pPr>
                    </a:p>
                  </p:txBody>
                </p:sp>
                <p:sp>
                  <p:nvSpPr>
                    <p:cNvPr id="313" name="object 11"/>
                    <p:cNvSpPr/>
                    <p:nvPr/>
                  </p:nvSpPr>
                  <p:spPr>
                    <a:xfrm>
                      <a:off x="0" y="322825"/>
                      <a:ext cx="1439310" cy="322673"/>
                    </a:xfrm>
                    <a:prstGeom prst="rect">
                      <a:avLst/>
                    </a:prstGeom>
                    <a:solidFill>
                      <a:srgbClr val="0092D7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defRPr b="1" sz="160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  <a:sym typeface="游ゴシック"/>
                        </a:defRPr>
                      </a:pPr>
                    </a:p>
                  </p:txBody>
                </p:sp>
              </p:grpSp>
              <p:sp>
                <p:nvSpPr>
                  <p:cNvPr id="315" name="object 11"/>
                  <p:cNvSpPr txBox="1"/>
                  <p:nvPr/>
                </p:nvSpPr>
                <p:spPr>
                  <a:xfrm>
                    <a:off x="0" y="221226"/>
                    <a:ext cx="1440000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計量標準</a:t>
                    </a:r>
                  </a:p>
                </p:txBody>
              </p:sp>
            </p:grpSp>
          </p:grpSp>
        </p:grpSp>
        <p:grpSp>
          <p:nvGrpSpPr>
            <p:cNvPr id="346" name="グループ化 93"/>
            <p:cNvGrpSpPr/>
            <p:nvPr/>
          </p:nvGrpSpPr>
          <p:grpSpPr>
            <a:xfrm>
              <a:off x="-1" y="4165969"/>
              <a:ext cx="6422402" cy="2157659"/>
              <a:chOff x="0" y="0"/>
              <a:chExt cx="6422400" cy="2157658"/>
            </a:xfrm>
          </p:grpSpPr>
          <p:sp>
            <p:nvSpPr>
              <p:cNvPr id="319" name="object 5"/>
              <p:cNvSpPr txBox="1"/>
              <p:nvPr/>
            </p:nvSpPr>
            <p:spPr>
              <a:xfrm>
                <a:off x="4" y="219279"/>
                <a:ext cx="3101757" cy="254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indent="12695" defTabSz="914400">
                  <a:lnSpc>
                    <a:spcPct val="120000"/>
                  </a:lnSpc>
                  <a:spcBef>
                    <a:spcPts val="200"/>
                  </a:spcBef>
                  <a:defRPr b="1" sz="2000">
                    <a:solidFill>
                      <a:srgbClr val="231F20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サブカラー</a:t>
                </a:r>
              </a:p>
            </p:txBody>
          </p:sp>
          <p:sp>
            <p:nvSpPr>
              <p:cNvPr id="320" name="直線コネクタ 95"/>
              <p:cNvSpPr/>
              <p:nvPr/>
            </p:nvSpPr>
            <p:spPr>
              <a:xfrm>
                <a:off x="0" y="0"/>
                <a:ext cx="6422401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grpSp>
            <p:nvGrpSpPr>
              <p:cNvPr id="323" name="object 11"/>
              <p:cNvGrpSpPr/>
              <p:nvPr/>
            </p:nvGrpSpPr>
            <p:grpSpPr>
              <a:xfrm>
                <a:off x="1661758" y="1512315"/>
                <a:ext cx="1440001" cy="645344"/>
                <a:chOff x="0" y="0"/>
                <a:chExt cx="1440000" cy="645342"/>
              </a:xfrm>
            </p:grpSpPr>
            <p:sp>
              <p:nvSpPr>
                <p:cNvPr id="321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C8F1E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322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326" name="object 11"/>
              <p:cNvGrpSpPr/>
              <p:nvPr/>
            </p:nvGrpSpPr>
            <p:grpSpPr>
              <a:xfrm>
                <a:off x="3321472" y="1512315"/>
                <a:ext cx="1440001" cy="645344"/>
                <a:chOff x="0" y="0"/>
                <a:chExt cx="1440000" cy="645342"/>
              </a:xfrm>
            </p:grpSpPr>
            <p:sp>
              <p:nvSpPr>
                <p:cNvPr id="324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BFE7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325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329" name="object 11"/>
              <p:cNvGrpSpPr/>
              <p:nvPr/>
            </p:nvGrpSpPr>
            <p:grpSpPr>
              <a:xfrm>
                <a:off x="2" y="1512315"/>
                <a:ext cx="1440001" cy="645344"/>
                <a:chOff x="0" y="0"/>
                <a:chExt cx="1440000" cy="645342"/>
              </a:xfrm>
            </p:grpSpPr>
            <p:sp>
              <p:nvSpPr>
                <p:cNvPr id="327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FDD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sz="3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328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342" name="グループ化 99"/>
              <p:cNvGrpSpPr/>
              <p:nvPr/>
            </p:nvGrpSpPr>
            <p:grpSpPr>
              <a:xfrm>
                <a:off x="2" y="791535"/>
                <a:ext cx="6421185" cy="645344"/>
                <a:chOff x="0" y="0"/>
                <a:chExt cx="6421183" cy="645342"/>
              </a:xfrm>
            </p:grpSpPr>
            <p:grpSp>
              <p:nvGrpSpPr>
                <p:cNvPr id="332" name="object 11"/>
                <p:cNvGrpSpPr/>
                <p:nvPr/>
              </p:nvGrpSpPr>
              <p:grpSpPr>
                <a:xfrm>
                  <a:off x="1661755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330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22857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31" name="Green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Green</a:t>
                    </a:r>
                  </a:p>
                </p:txBody>
              </p:sp>
            </p:grpSp>
            <p:grpSp>
              <p:nvGrpSpPr>
                <p:cNvPr id="335" name="object 11"/>
                <p:cNvGrpSpPr/>
                <p:nvPr/>
              </p:nvGrpSpPr>
              <p:grpSpPr>
                <a:xfrm>
                  <a:off x="3321470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333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77C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34" name="Blu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Blue</a:t>
                    </a:r>
                  </a:p>
                </p:txBody>
              </p:sp>
            </p:grpSp>
            <p:grpSp>
              <p:nvGrpSpPr>
                <p:cNvPr id="338" name="object 11"/>
                <p:cNvGrpSpPr/>
                <p:nvPr/>
              </p:nvGrpSpPr>
              <p:grpSpPr>
                <a:xfrm>
                  <a:off x="0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336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F5963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37" name="Orang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Orange</a:t>
                    </a:r>
                  </a:p>
                </p:txBody>
              </p:sp>
            </p:grpSp>
            <p:grpSp>
              <p:nvGrpSpPr>
                <p:cNvPr id="341" name="object 11"/>
                <p:cNvGrpSpPr/>
                <p:nvPr/>
              </p:nvGrpSpPr>
              <p:grpSpPr>
                <a:xfrm>
                  <a:off x="4981183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339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7030A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40" name="Purpl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Purple</a:t>
                    </a:r>
                  </a:p>
                </p:txBody>
              </p:sp>
            </p:grpSp>
          </p:grpSp>
          <p:grpSp>
            <p:nvGrpSpPr>
              <p:cNvPr id="345" name="object 11"/>
              <p:cNvGrpSpPr/>
              <p:nvPr/>
            </p:nvGrpSpPr>
            <p:grpSpPr>
              <a:xfrm>
                <a:off x="4981186" y="1512315"/>
                <a:ext cx="1440001" cy="645344"/>
                <a:chOff x="0" y="0"/>
                <a:chExt cx="1440000" cy="645342"/>
              </a:xfrm>
            </p:grpSpPr>
            <p:sp>
              <p:nvSpPr>
                <p:cNvPr id="343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E4D7E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sz="3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344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</p:grpSp>
      </p:grpSp>
      <p:grpSp>
        <p:nvGrpSpPr>
          <p:cNvPr id="350" name="グループ化 27"/>
          <p:cNvGrpSpPr/>
          <p:nvPr/>
        </p:nvGrpSpPr>
        <p:grpSpPr>
          <a:xfrm>
            <a:off x="-1" y="0"/>
            <a:ext cx="192001" cy="13719600"/>
            <a:chOff x="0" y="0"/>
            <a:chExt cx="192000" cy="13719599"/>
          </a:xfrm>
        </p:grpSpPr>
        <p:sp>
          <p:nvSpPr>
            <p:cNvPr id="348" name="正方形/長方形 24"/>
            <p:cNvSpPr/>
            <p:nvPr/>
          </p:nvSpPr>
          <p:spPr>
            <a:xfrm>
              <a:off x="-1" y="0"/>
              <a:ext cx="192001" cy="6861600"/>
            </a:xfrm>
            <a:prstGeom prst="rect">
              <a:avLst/>
            </a:prstGeom>
            <a:solidFill>
              <a:srgbClr val="CF002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0"/>
                </a:spcBef>
                <a:defRPr b="1" sz="2400">
                  <a:latin typeface="游ゴシック"/>
                  <a:ea typeface="游ゴシック"/>
                  <a:cs typeface="游ゴシック"/>
                  <a:sym typeface="游ゴシック"/>
                </a:defRPr>
              </a:pPr>
            </a:p>
          </p:txBody>
        </p:sp>
        <p:sp>
          <p:nvSpPr>
            <p:cNvPr id="349" name="正方形/長方形 26"/>
            <p:cNvSpPr/>
            <p:nvPr/>
          </p:nvSpPr>
          <p:spPr>
            <a:xfrm>
              <a:off x="-1" y="6858000"/>
              <a:ext cx="192001" cy="6861600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0"/>
                </a:spcBef>
                <a:defRPr b="1" sz="2400">
                  <a:latin typeface="游ゴシック"/>
                  <a:ea typeface="游ゴシック"/>
                  <a:cs typeface="游ゴシック"/>
                  <a:sym typeface="游ゴシック"/>
                </a:defRPr>
              </a:pPr>
            </a:p>
          </p:txBody>
        </p:sp>
      </p:grpSp>
      <p:sp>
        <p:nvSpPr>
          <p:cNvPr id="351" name="Title Text"/>
          <p:cNvSpPr txBox="1"/>
          <p:nvPr>
            <p:ph type="title"/>
          </p:nvPr>
        </p:nvSpPr>
        <p:spPr>
          <a:xfrm>
            <a:off x="847970" y="3353465"/>
            <a:ext cx="22689363" cy="1354217"/>
          </a:xfrm>
          <a:prstGeom prst="rect">
            <a:avLst/>
          </a:prstGeom>
        </p:spPr>
        <p:txBody>
          <a:bodyPr lIns="0" tIns="0" rIns="0" bIns="0"/>
          <a:lstStyle>
            <a:lvl1pPr defTabSz="1828849">
              <a:lnSpc>
                <a:spcPct val="100000"/>
              </a:lnSpc>
              <a:spcBef>
                <a:spcPts val="600"/>
              </a:spcBef>
              <a:defRPr spc="0" sz="8800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352" name="グラフィックス 2" descr="グラフィックス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1959" y="406400"/>
            <a:ext cx="3823948" cy="1461451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914400">
              <a:defRPr sz="2400">
                <a:latin typeface="游ゴシック"/>
                <a:ea typeface="游ゴシック"/>
                <a:cs typeface="游ゴシック"/>
                <a:sym typeface="游ゴシック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基本_A_フッター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グループ化 81"/>
          <p:cNvGrpSpPr/>
          <p:nvPr/>
        </p:nvGrpSpPr>
        <p:grpSpPr>
          <a:xfrm>
            <a:off x="25055230" y="0"/>
            <a:ext cx="6422403" cy="9056539"/>
            <a:chOff x="0" y="0"/>
            <a:chExt cx="6422402" cy="9056538"/>
          </a:xfrm>
        </p:grpSpPr>
        <p:sp>
          <p:nvSpPr>
            <p:cNvPr id="360" name="object 5"/>
            <p:cNvSpPr txBox="1"/>
            <p:nvPr/>
          </p:nvSpPr>
          <p:spPr>
            <a:xfrm>
              <a:off x="4" y="219280"/>
              <a:ext cx="3101757" cy="254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indent="12695" defTabSz="914400">
                <a:lnSpc>
                  <a:spcPct val="120000"/>
                </a:lnSpc>
                <a:spcBef>
                  <a:spcPts val="200"/>
                </a:spcBef>
                <a:defRPr b="1" sz="2000">
                  <a:solidFill>
                    <a:srgbClr val="231F20"/>
                  </a:solidFill>
                  <a:latin typeface="游ゴシック"/>
                  <a:ea typeface="游ゴシック"/>
                  <a:cs typeface="游ゴシック"/>
                  <a:sym typeface="游ゴシック"/>
                </a:defRPr>
              </a:lvl1pPr>
            </a:lstStyle>
            <a:p>
              <a:pPr/>
              <a:r>
                <a:t>メインカラー</a:t>
              </a:r>
            </a:p>
          </p:txBody>
        </p:sp>
        <p:sp>
          <p:nvSpPr>
            <p:cNvPr id="361" name="直線コネクタ 83"/>
            <p:cNvSpPr/>
            <p:nvPr/>
          </p:nvSpPr>
          <p:spPr>
            <a:xfrm>
              <a:off x="1" y="0"/>
              <a:ext cx="642240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defTabSz="914400">
                <a:lnSpc>
                  <a:spcPct val="100000"/>
                </a:lnSpc>
                <a:spcBef>
                  <a:spcPts val="0"/>
                </a:spcBef>
                <a:defRPr sz="3600">
                  <a:latin typeface="游ゴシック"/>
                  <a:ea typeface="游ゴシック"/>
                  <a:cs typeface="游ゴシック"/>
                  <a:sym typeface="游ゴシック"/>
                </a:defRPr>
              </a:pPr>
            </a:p>
          </p:txBody>
        </p:sp>
        <p:grpSp>
          <p:nvGrpSpPr>
            <p:cNvPr id="364" name="object 11"/>
            <p:cNvGrpSpPr/>
            <p:nvPr/>
          </p:nvGrpSpPr>
          <p:grpSpPr>
            <a:xfrm>
              <a:off x="2" y="791536"/>
              <a:ext cx="1440001" cy="645343"/>
              <a:chOff x="0" y="0"/>
              <a:chExt cx="1440000" cy="645342"/>
            </a:xfrm>
          </p:grpSpPr>
          <p:sp>
            <p:nvSpPr>
              <p:cNvPr id="362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CF002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363" name="AIST RED"/>
              <p:cNvSpPr txBox="1"/>
              <p:nvPr/>
            </p:nvSpPr>
            <p:spPr>
              <a:xfrm>
                <a:off x="0" y="202175"/>
                <a:ext cx="1440001" cy="241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AIST RED</a:t>
                </a:r>
              </a:p>
            </p:txBody>
          </p:sp>
        </p:grpSp>
        <p:grpSp>
          <p:nvGrpSpPr>
            <p:cNvPr id="367" name="object 11"/>
            <p:cNvGrpSpPr/>
            <p:nvPr/>
          </p:nvGrpSpPr>
          <p:grpSpPr>
            <a:xfrm>
              <a:off x="1661758" y="791536"/>
              <a:ext cx="1440001" cy="645343"/>
              <a:chOff x="0" y="0"/>
              <a:chExt cx="1440000" cy="645342"/>
            </a:xfrm>
          </p:grpSpPr>
          <p:sp>
            <p:nvSpPr>
              <p:cNvPr id="365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366" name="Black"/>
              <p:cNvSpPr txBox="1"/>
              <p:nvPr/>
            </p:nvSpPr>
            <p:spPr>
              <a:xfrm>
                <a:off x="0" y="202175"/>
                <a:ext cx="1440001" cy="2413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Black</a:t>
                </a:r>
              </a:p>
            </p:txBody>
          </p:sp>
        </p:grpSp>
        <p:grpSp>
          <p:nvGrpSpPr>
            <p:cNvPr id="370" name="object 11"/>
            <p:cNvGrpSpPr/>
            <p:nvPr/>
          </p:nvGrpSpPr>
          <p:grpSpPr>
            <a:xfrm>
              <a:off x="2" y="1512318"/>
              <a:ext cx="1440001" cy="645343"/>
              <a:chOff x="0" y="0"/>
              <a:chExt cx="1440000" cy="645342"/>
            </a:xfrm>
          </p:grpSpPr>
          <p:sp>
            <p:nvSpPr>
              <p:cNvPr id="368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DC5A7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369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373" name="object 11"/>
            <p:cNvGrpSpPr/>
            <p:nvPr/>
          </p:nvGrpSpPr>
          <p:grpSpPr>
            <a:xfrm>
              <a:off x="1661758" y="1512318"/>
              <a:ext cx="1440001" cy="645343"/>
              <a:chOff x="0" y="0"/>
              <a:chExt cx="1440000" cy="645342"/>
            </a:xfrm>
          </p:grpSpPr>
          <p:sp>
            <p:nvSpPr>
              <p:cNvPr id="371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40404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372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solidFill>
                      <a:srgbClr val="FFFFFF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376" name="object 11"/>
            <p:cNvGrpSpPr/>
            <p:nvPr/>
          </p:nvGrpSpPr>
          <p:grpSpPr>
            <a:xfrm>
              <a:off x="2" y="2233099"/>
              <a:ext cx="1440001" cy="645344"/>
              <a:chOff x="0" y="0"/>
              <a:chExt cx="1440000" cy="645342"/>
            </a:xfrm>
          </p:grpSpPr>
          <p:sp>
            <p:nvSpPr>
              <p:cNvPr id="374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FFC2C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375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379" name="object 11"/>
            <p:cNvGrpSpPr/>
            <p:nvPr/>
          </p:nvGrpSpPr>
          <p:grpSpPr>
            <a:xfrm>
              <a:off x="1661758" y="2233099"/>
              <a:ext cx="1440001" cy="645344"/>
              <a:chOff x="0" y="0"/>
              <a:chExt cx="1440000" cy="645342"/>
            </a:xfrm>
          </p:grpSpPr>
          <p:sp>
            <p:nvSpPr>
              <p:cNvPr id="377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D4D4D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378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382" name="object 11"/>
            <p:cNvGrpSpPr/>
            <p:nvPr/>
          </p:nvGrpSpPr>
          <p:grpSpPr>
            <a:xfrm>
              <a:off x="2" y="2953884"/>
              <a:ext cx="1440001" cy="645343"/>
              <a:chOff x="0" y="0"/>
              <a:chExt cx="1440000" cy="645342"/>
            </a:xfrm>
          </p:grpSpPr>
          <p:sp>
            <p:nvSpPr>
              <p:cNvPr id="380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FFE5E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381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385" name="object 11"/>
            <p:cNvGrpSpPr/>
            <p:nvPr/>
          </p:nvGrpSpPr>
          <p:grpSpPr>
            <a:xfrm>
              <a:off x="1661758" y="2953884"/>
              <a:ext cx="1440001" cy="645343"/>
              <a:chOff x="0" y="0"/>
              <a:chExt cx="1440000" cy="645342"/>
            </a:xfrm>
          </p:grpSpPr>
          <p:sp>
            <p:nvSpPr>
              <p:cNvPr id="383" name="Rectangle"/>
              <p:cNvSpPr/>
              <p:nvPr/>
            </p:nvSpPr>
            <p:spPr>
              <a:xfrm>
                <a:off x="0" y="0"/>
                <a:ext cx="1439310" cy="645343"/>
              </a:xfrm>
              <a:prstGeom prst="rect">
                <a:avLst/>
              </a:prstGeom>
              <a:solidFill>
                <a:srgbClr val="EBEB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sp>
            <p:nvSpPr>
              <p:cNvPr id="384" name="テキスト"/>
              <p:cNvSpPr txBox="1"/>
              <p:nvPr/>
            </p:nvSpPr>
            <p:spPr>
              <a:xfrm>
                <a:off x="0" y="221225"/>
                <a:ext cx="1440001" cy="2032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914400">
                  <a:lnSpc>
                    <a:spcPct val="100000"/>
                  </a:lnSpc>
                  <a:spcBef>
                    <a:spcPts val="0"/>
                  </a:spcBef>
                  <a:defRPr b="1" sz="1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テキスト</a:t>
                </a:r>
              </a:p>
            </p:txBody>
          </p:sp>
        </p:grpSp>
        <p:grpSp>
          <p:nvGrpSpPr>
            <p:cNvPr id="415" name="グループ化 92"/>
            <p:cNvGrpSpPr/>
            <p:nvPr/>
          </p:nvGrpSpPr>
          <p:grpSpPr>
            <a:xfrm>
              <a:off x="-1" y="6890371"/>
              <a:ext cx="6422402" cy="2166168"/>
              <a:chOff x="0" y="0"/>
              <a:chExt cx="6422400" cy="2166166"/>
            </a:xfrm>
          </p:grpSpPr>
          <p:sp>
            <p:nvSpPr>
              <p:cNvPr id="386" name="直線コネクタ 105"/>
              <p:cNvSpPr/>
              <p:nvPr/>
            </p:nvSpPr>
            <p:spPr>
              <a:xfrm>
                <a:off x="-1" y="0"/>
                <a:ext cx="6422402" cy="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grpSp>
            <p:nvGrpSpPr>
              <p:cNvPr id="414" name="グループ化 106"/>
              <p:cNvGrpSpPr/>
              <p:nvPr/>
            </p:nvGrpSpPr>
            <p:grpSpPr>
              <a:xfrm>
                <a:off x="2" y="219279"/>
                <a:ext cx="6421185" cy="1946888"/>
                <a:chOff x="0" y="0"/>
                <a:chExt cx="6421183" cy="1946886"/>
              </a:xfrm>
            </p:grpSpPr>
            <p:sp>
              <p:nvSpPr>
                <p:cNvPr id="387" name="object 5"/>
                <p:cNvSpPr txBox="1"/>
                <p:nvPr/>
              </p:nvSpPr>
              <p:spPr>
                <a:xfrm>
                  <a:off x="1" y="-1"/>
                  <a:ext cx="3101757" cy="254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spAutoFit/>
                </a:bodyPr>
                <a:lstStyle>
                  <a:lvl1pPr indent="12695" defTabSz="914400">
                    <a:lnSpc>
                      <a:spcPct val="120000"/>
                    </a:lnSpc>
                    <a:spcBef>
                      <a:spcPts val="200"/>
                    </a:spcBef>
                    <a:defRPr b="1" sz="2000">
                      <a:solidFill>
                        <a:srgbClr val="231F20"/>
                      </a:solidFill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領域カラー</a:t>
                  </a:r>
                </a:p>
              </p:txBody>
            </p:sp>
            <p:grpSp>
              <p:nvGrpSpPr>
                <p:cNvPr id="390" name="object 11"/>
                <p:cNvGrpSpPr/>
                <p:nvPr/>
              </p:nvGrpSpPr>
              <p:grpSpPr>
                <a:xfrm>
                  <a:off x="-1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388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8EB51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89" name="エネ・環境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エネ・環境</a:t>
                    </a:r>
                  </a:p>
                </p:txBody>
              </p:sp>
            </p:grpSp>
            <p:grpSp>
              <p:nvGrpSpPr>
                <p:cNvPr id="393" name="object 11"/>
                <p:cNvGrpSpPr/>
                <p:nvPr/>
              </p:nvGrpSpPr>
              <p:grpSpPr>
                <a:xfrm>
                  <a:off x="1661755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391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E03075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92" name="生命工学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生命工学</a:t>
                    </a:r>
                  </a:p>
                </p:txBody>
              </p:sp>
            </p:grpSp>
            <p:grpSp>
              <p:nvGrpSpPr>
                <p:cNvPr id="396" name="object 11"/>
                <p:cNvGrpSpPr/>
                <p:nvPr/>
              </p:nvGrpSpPr>
              <p:grpSpPr>
                <a:xfrm>
                  <a:off x="3321470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394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8E6E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95" name="情報・人間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情報・人間</a:t>
                    </a:r>
                  </a:p>
                </p:txBody>
              </p:sp>
            </p:grpSp>
            <p:grpSp>
              <p:nvGrpSpPr>
                <p:cNvPr id="399" name="object 11"/>
                <p:cNvGrpSpPr/>
                <p:nvPr/>
              </p:nvGrpSpPr>
              <p:grpSpPr>
                <a:xfrm>
                  <a:off x="4981183" y="572255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397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AE308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398" name="材料・化学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材料・化学</a:t>
                    </a:r>
                  </a:p>
                </p:txBody>
              </p:sp>
            </p:grpSp>
            <p:grpSp>
              <p:nvGrpSpPr>
                <p:cNvPr id="402" name="object 11"/>
                <p:cNvGrpSpPr/>
                <p:nvPr/>
              </p:nvGrpSpPr>
              <p:grpSpPr>
                <a:xfrm>
                  <a:off x="-1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400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6F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401" name="エレ・製造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エレ・製造</a:t>
                    </a:r>
                  </a:p>
                </p:txBody>
              </p:sp>
            </p:grpSp>
            <p:grpSp>
              <p:nvGrpSpPr>
                <p:cNvPr id="405" name="object 11"/>
                <p:cNvGrpSpPr/>
                <p:nvPr/>
              </p:nvGrpSpPr>
              <p:grpSpPr>
                <a:xfrm>
                  <a:off x="1661755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403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CB4D0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sz="3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404" name="地質調査"/>
                  <p:cNvSpPr txBox="1"/>
                  <p:nvPr/>
                </p:nvSpPr>
                <p:spPr>
                  <a:xfrm>
                    <a:off x="0" y="221225"/>
                    <a:ext cx="1440001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地質調査</a:t>
                    </a:r>
                  </a:p>
                </p:txBody>
              </p:sp>
            </p:grpSp>
            <p:grpSp>
              <p:nvGrpSpPr>
                <p:cNvPr id="408" name="object 11"/>
                <p:cNvGrpSpPr/>
                <p:nvPr/>
              </p:nvGrpSpPr>
              <p:grpSpPr>
                <a:xfrm>
                  <a:off x="4981183" y="1301389"/>
                  <a:ext cx="1440001" cy="645344"/>
                  <a:chOff x="0" y="0"/>
                  <a:chExt cx="1440000" cy="645342"/>
                </a:xfrm>
              </p:grpSpPr>
              <p:sp>
                <p:nvSpPr>
                  <p:cNvPr id="406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26B7BC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407" name="量子・AI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  <a:r>
                      <a:t>量子・</a:t>
                    </a:r>
                    <a:r>
                      <a:t>AI</a:t>
                    </a:r>
                  </a:p>
                </p:txBody>
              </p:sp>
            </p:grpSp>
            <p:grpSp>
              <p:nvGrpSpPr>
                <p:cNvPr id="413" name="グループ化 115"/>
                <p:cNvGrpSpPr/>
                <p:nvPr/>
              </p:nvGrpSpPr>
              <p:grpSpPr>
                <a:xfrm>
                  <a:off x="3321470" y="1301389"/>
                  <a:ext cx="1440001" cy="645498"/>
                  <a:chOff x="0" y="0"/>
                  <a:chExt cx="1440000" cy="645497"/>
                </a:xfrm>
              </p:grpSpPr>
              <p:grpSp>
                <p:nvGrpSpPr>
                  <p:cNvPr id="411" name="グループ化 116"/>
                  <p:cNvGrpSpPr/>
                  <p:nvPr/>
                </p:nvGrpSpPr>
                <p:grpSpPr>
                  <a:xfrm>
                    <a:off x="-1" y="0"/>
                    <a:ext cx="1439311" cy="645498"/>
                    <a:chOff x="0" y="0"/>
                    <a:chExt cx="1439309" cy="645497"/>
                  </a:xfrm>
                </p:grpSpPr>
                <p:sp>
                  <p:nvSpPr>
                    <p:cNvPr id="409" name="object 11"/>
                    <p:cNvSpPr/>
                    <p:nvPr/>
                  </p:nvSpPr>
                  <p:spPr>
                    <a:xfrm>
                      <a:off x="0" y="0"/>
                      <a:ext cx="1439310" cy="322672"/>
                    </a:xfrm>
                    <a:prstGeom prst="rect">
                      <a:avLst/>
                    </a:prstGeom>
                    <a:solidFill>
                      <a:srgbClr val="00A95C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defRPr b="1" sz="160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  <a:sym typeface="游ゴシック"/>
                        </a:defRPr>
                      </a:pPr>
                    </a:p>
                  </p:txBody>
                </p:sp>
                <p:sp>
                  <p:nvSpPr>
                    <p:cNvPr id="410" name="object 11"/>
                    <p:cNvSpPr/>
                    <p:nvPr/>
                  </p:nvSpPr>
                  <p:spPr>
                    <a:xfrm>
                      <a:off x="0" y="322825"/>
                      <a:ext cx="1439310" cy="322673"/>
                    </a:xfrm>
                    <a:prstGeom prst="rect">
                      <a:avLst/>
                    </a:prstGeom>
                    <a:solidFill>
                      <a:srgbClr val="0092D7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defRPr b="1" sz="160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  <a:sym typeface="游ゴシック"/>
                        </a:defRPr>
                      </a:pPr>
                    </a:p>
                  </p:txBody>
                </p:sp>
              </p:grpSp>
              <p:sp>
                <p:nvSpPr>
                  <p:cNvPr id="412" name="object 11"/>
                  <p:cNvSpPr txBox="1"/>
                  <p:nvPr/>
                </p:nvSpPr>
                <p:spPr>
                  <a:xfrm>
                    <a:off x="0" y="221226"/>
                    <a:ext cx="1440000" cy="203200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計量標準</a:t>
                    </a:r>
                  </a:p>
                </p:txBody>
              </p:sp>
            </p:grpSp>
          </p:grpSp>
        </p:grpSp>
        <p:grpSp>
          <p:nvGrpSpPr>
            <p:cNvPr id="443" name="グループ化 93"/>
            <p:cNvGrpSpPr/>
            <p:nvPr/>
          </p:nvGrpSpPr>
          <p:grpSpPr>
            <a:xfrm>
              <a:off x="-1" y="4165969"/>
              <a:ext cx="6422402" cy="2157659"/>
              <a:chOff x="0" y="0"/>
              <a:chExt cx="6422400" cy="2157658"/>
            </a:xfrm>
          </p:grpSpPr>
          <p:sp>
            <p:nvSpPr>
              <p:cNvPr id="416" name="object 5"/>
              <p:cNvSpPr txBox="1"/>
              <p:nvPr/>
            </p:nvSpPr>
            <p:spPr>
              <a:xfrm>
                <a:off x="4" y="219279"/>
                <a:ext cx="3101757" cy="254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indent="12695" defTabSz="914400">
                  <a:lnSpc>
                    <a:spcPct val="120000"/>
                  </a:lnSpc>
                  <a:spcBef>
                    <a:spcPts val="200"/>
                  </a:spcBef>
                  <a:defRPr b="1" sz="2000">
                    <a:solidFill>
                      <a:srgbClr val="231F20"/>
                    </a:solidFill>
                    <a:latin typeface="游ゴシック"/>
                    <a:ea typeface="游ゴシック"/>
                    <a:cs typeface="游ゴシック"/>
                    <a:sym typeface="游ゴシック"/>
                  </a:defRPr>
                </a:lvl1pPr>
              </a:lstStyle>
              <a:p>
                <a:pPr/>
                <a:r>
                  <a:t>サブカラー</a:t>
                </a:r>
              </a:p>
            </p:txBody>
          </p:sp>
          <p:sp>
            <p:nvSpPr>
              <p:cNvPr id="417" name="直線コネクタ 95"/>
              <p:cNvSpPr/>
              <p:nvPr/>
            </p:nvSpPr>
            <p:spPr>
              <a:xfrm>
                <a:off x="0" y="0"/>
                <a:ext cx="6422401" cy="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spcBef>
                    <a:spcPts val="0"/>
                  </a:spcBef>
                  <a:defRPr sz="3600">
                    <a:latin typeface="游ゴシック"/>
                    <a:ea typeface="游ゴシック"/>
                    <a:cs typeface="游ゴシック"/>
                    <a:sym typeface="游ゴシック"/>
                  </a:defRPr>
                </a:pPr>
              </a:p>
            </p:txBody>
          </p:sp>
          <p:grpSp>
            <p:nvGrpSpPr>
              <p:cNvPr id="420" name="object 11"/>
              <p:cNvGrpSpPr/>
              <p:nvPr/>
            </p:nvGrpSpPr>
            <p:grpSpPr>
              <a:xfrm>
                <a:off x="1661758" y="1512315"/>
                <a:ext cx="1440001" cy="645344"/>
                <a:chOff x="0" y="0"/>
                <a:chExt cx="1440000" cy="645342"/>
              </a:xfrm>
            </p:grpSpPr>
            <p:sp>
              <p:nvSpPr>
                <p:cNvPr id="418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C8F1E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419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423" name="object 11"/>
              <p:cNvGrpSpPr/>
              <p:nvPr/>
            </p:nvGrpSpPr>
            <p:grpSpPr>
              <a:xfrm>
                <a:off x="3321472" y="1512315"/>
                <a:ext cx="1440001" cy="645344"/>
                <a:chOff x="0" y="0"/>
                <a:chExt cx="1440000" cy="645342"/>
              </a:xfrm>
            </p:grpSpPr>
            <p:sp>
              <p:nvSpPr>
                <p:cNvPr id="421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BFE7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422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426" name="object 11"/>
              <p:cNvGrpSpPr/>
              <p:nvPr/>
            </p:nvGrpSpPr>
            <p:grpSpPr>
              <a:xfrm>
                <a:off x="2" y="1512315"/>
                <a:ext cx="1440001" cy="645344"/>
                <a:chOff x="0" y="0"/>
                <a:chExt cx="1440000" cy="645342"/>
              </a:xfrm>
            </p:grpSpPr>
            <p:sp>
              <p:nvSpPr>
                <p:cNvPr id="424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FDD9B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sz="3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425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  <p:grpSp>
            <p:nvGrpSpPr>
              <p:cNvPr id="439" name="グループ化 99"/>
              <p:cNvGrpSpPr/>
              <p:nvPr/>
            </p:nvGrpSpPr>
            <p:grpSpPr>
              <a:xfrm>
                <a:off x="2" y="791535"/>
                <a:ext cx="6421185" cy="645344"/>
                <a:chOff x="0" y="0"/>
                <a:chExt cx="6421183" cy="645342"/>
              </a:xfrm>
            </p:grpSpPr>
            <p:grpSp>
              <p:nvGrpSpPr>
                <p:cNvPr id="429" name="object 11"/>
                <p:cNvGrpSpPr/>
                <p:nvPr/>
              </p:nvGrpSpPr>
              <p:grpSpPr>
                <a:xfrm>
                  <a:off x="1661755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427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228573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428" name="Green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Green</a:t>
                    </a:r>
                  </a:p>
                </p:txBody>
              </p:sp>
            </p:grpSp>
            <p:grpSp>
              <p:nvGrpSpPr>
                <p:cNvPr id="432" name="object 11"/>
                <p:cNvGrpSpPr/>
                <p:nvPr/>
              </p:nvGrpSpPr>
              <p:grpSpPr>
                <a:xfrm>
                  <a:off x="3321470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430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0077C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431" name="Blu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Blue</a:t>
                    </a:r>
                  </a:p>
                </p:txBody>
              </p:sp>
            </p:grpSp>
            <p:grpSp>
              <p:nvGrpSpPr>
                <p:cNvPr id="435" name="object 11"/>
                <p:cNvGrpSpPr/>
                <p:nvPr/>
              </p:nvGrpSpPr>
              <p:grpSpPr>
                <a:xfrm>
                  <a:off x="0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433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F59632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434" name="Orang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Orange</a:t>
                    </a:r>
                  </a:p>
                </p:txBody>
              </p:sp>
            </p:grpSp>
            <p:grpSp>
              <p:nvGrpSpPr>
                <p:cNvPr id="438" name="object 11"/>
                <p:cNvGrpSpPr/>
                <p:nvPr/>
              </p:nvGrpSpPr>
              <p:grpSpPr>
                <a:xfrm>
                  <a:off x="4981183" y="0"/>
                  <a:ext cx="1440001" cy="645343"/>
                  <a:chOff x="0" y="0"/>
                  <a:chExt cx="1440000" cy="645342"/>
                </a:xfrm>
              </p:grpSpPr>
              <p:sp>
                <p:nvSpPr>
                  <p:cNvPr id="436" name="Rectangle"/>
                  <p:cNvSpPr/>
                  <p:nvPr/>
                </p:nvSpPr>
                <p:spPr>
                  <a:xfrm>
                    <a:off x="0" y="0"/>
                    <a:ext cx="1439310" cy="645343"/>
                  </a:xfrm>
                  <a:prstGeom prst="rect">
                    <a:avLst/>
                  </a:prstGeom>
                  <a:solidFill>
                    <a:srgbClr val="7030A0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pPr>
                  </a:p>
                </p:txBody>
              </p:sp>
              <p:sp>
                <p:nvSpPr>
                  <p:cNvPr id="437" name="Purple"/>
                  <p:cNvSpPr txBox="1"/>
                  <p:nvPr/>
                </p:nvSpPr>
                <p:spPr>
                  <a:xfrm>
                    <a:off x="0" y="202175"/>
                    <a:ext cx="1440001" cy="241301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ctr">
                    <a:spAutoFit/>
                  </a:bodyPr>
                  <a:lstStyle>
                    <a:lvl1pPr algn="ctr" defTabSz="914400">
                      <a:lnSpc>
                        <a:spcPct val="100000"/>
                      </a:lnSpc>
                      <a:spcBef>
                        <a:spcPts val="0"/>
                      </a:spcBef>
                      <a:defRPr b="1" sz="1600">
                        <a:solidFill>
                          <a:srgbClr val="FFFFFF"/>
                        </a:solidFill>
                        <a:latin typeface="游ゴシック"/>
                        <a:ea typeface="游ゴシック"/>
                        <a:cs typeface="游ゴシック"/>
                        <a:sym typeface="游ゴシック"/>
                      </a:defRPr>
                    </a:lvl1pPr>
                  </a:lstStyle>
                  <a:p>
                    <a:pPr/>
                    <a:r>
                      <a:t>Purple</a:t>
                    </a:r>
                  </a:p>
                </p:txBody>
              </p:sp>
            </p:grpSp>
          </p:grpSp>
          <p:grpSp>
            <p:nvGrpSpPr>
              <p:cNvPr id="442" name="object 11"/>
              <p:cNvGrpSpPr/>
              <p:nvPr/>
            </p:nvGrpSpPr>
            <p:grpSpPr>
              <a:xfrm>
                <a:off x="4981186" y="1512315"/>
                <a:ext cx="1440001" cy="645344"/>
                <a:chOff x="0" y="0"/>
                <a:chExt cx="1440000" cy="645342"/>
              </a:xfrm>
            </p:grpSpPr>
            <p:sp>
              <p:nvSpPr>
                <p:cNvPr id="440" name="Rectangle"/>
                <p:cNvSpPr/>
                <p:nvPr/>
              </p:nvSpPr>
              <p:spPr>
                <a:xfrm>
                  <a:off x="0" y="0"/>
                  <a:ext cx="1439310" cy="645343"/>
                </a:xfrm>
                <a:prstGeom prst="rect">
                  <a:avLst/>
                </a:prstGeom>
                <a:solidFill>
                  <a:srgbClr val="E4D7E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spcBef>
                      <a:spcPts val="0"/>
                    </a:spcBef>
                    <a:defRPr sz="3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pPr>
                </a:p>
              </p:txBody>
            </p:sp>
            <p:sp>
              <p:nvSpPr>
                <p:cNvPr id="441" name="テキスト"/>
                <p:cNvSpPr txBox="1"/>
                <p:nvPr/>
              </p:nvSpPr>
              <p:spPr>
                <a:xfrm>
                  <a:off x="0" y="221225"/>
                  <a:ext cx="1440001" cy="2032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ctr">
                  <a:spAutoFit/>
                </a:bodyPr>
                <a:lstStyle>
                  <a:lvl1pPr algn="ctr" defTabSz="914400">
                    <a:lnSpc>
                      <a:spcPct val="100000"/>
                    </a:lnSpc>
                    <a:spcBef>
                      <a:spcPts val="0"/>
                    </a:spcBef>
                    <a:defRPr b="1" sz="1600">
                      <a:latin typeface="游ゴシック"/>
                      <a:ea typeface="游ゴシック"/>
                      <a:cs typeface="游ゴシック"/>
                      <a:sym typeface="游ゴシック"/>
                    </a:defRPr>
                  </a:lvl1pPr>
                </a:lstStyle>
                <a:p>
                  <a:pPr/>
                  <a:r>
                    <a:t>テキスト</a:t>
                  </a:r>
                </a:p>
              </p:txBody>
            </p:sp>
          </p:grpSp>
        </p:grpSp>
      </p:grpSp>
      <p:sp>
        <p:nvSpPr>
          <p:cNvPr id="445" name="正方形/長方形 2"/>
          <p:cNvSpPr/>
          <p:nvPr/>
        </p:nvSpPr>
        <p:spPr>
          <a:xfrm>
            <a:off x="0" y="0"/>
            <a:ext cx="24384000" cy="1440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914393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游ゴシック"/>
                <a:ea typeface="游ゴシック"/>
                <a:cs typeface="游ゴシック"/>
                <a:sym typeface="游ゴシック"/>
              </a:defRPr>
            </a:pPr>
          </a:p>
        </p:txBody>
      </p:sp>
      <p:sp>
        <p:nvSpPr>
          <p:cNvPr id="446" name="タイトルを入力"/>
          <p:cNvSpPr txBox="1"/>
          <p:nvPr>
            <p:ph type="title" hasCustomPrompt="1"/>
          </p:nvPr>
        </p:nvSpPr>
        <p:spPr>
          <a:xfrm>
            <a:off x="454028" y="372997"/>
            <a:ext cx="20880000" cy="738666"/>
          </a:xfrm>
          <a:prstGeom prst="rect">
            <a:avLst/>
          </a:prstGeom>
        </p:spPr>
        <p:txBody>
          <a:bodyPr lIns="0" tIns="0" rIns="0" bIns="0"/>
          <a:lstStyle>
            <a:lvl1pPr defTabSz="1828849">
              <a:lnSpc>
                <a:spcPct val="100000"/>
              </a:lnSpc>
              <a:spcBef>
                <a:spcPts val="600"/>
              </a:spcBef>
              <a:defRPr spc="0" sz="48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タイトルを入力</a:t>
            </a:r>
          </a:p>
        </p:txBody>
      </p:sp>
      <p:sp>
        <p:nvSpPr>
          <p:cNvPr id="447" name="Slide Number"/>
          <p:cNvSpPr txBox="1"/>
          <p:nvPr>
            <p:ph type="sldNum" sz="quarter" idx="2"/>
          </p:nvPr>
        </p:nvSpPr>
        <p:spPr>
          <a:xfrm>
            <a:off x="23585500" y="13229289"/>
            <a:ext cx="478106" cy="48768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914400">
              <a:defRPr sz="2000">
                <a:latin typeface="游ゴシック"/>
                <a:ea typeface="游ゴシック"/>
                <a:cs typeface="游ゴシック"/>
                <a:sym typeface="游ゴシック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48" name="直線コネクタ 5"/>
          <p:cNvSpPr/>
          <p:nvPr/>
        </p:nvSpPr>
        <p:spPr>
          <a:xfrm>
            <a:off x="23196549" y="13279828"/>
            <a:ext cx="1" cy="44530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tIns="91439" bIns="9143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3600">
                <a:latin typeface="游ゴシック"/>
                <a:ea typeface="游ゴシック"/>
                <a:cs typeface="游ゴシック"/>
                <a:sym typeface="游ゴシック"/>
              </a:defRPr>
            </a:pPr>
          </a:p>
        </p:txBody>
      </p:sp>
      <p:pic>
        <p:nvPicPr>
          <p:cNvPr id="449" name="グラフィックス 3" descr="グラフィックス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3625" y="273050"/>
            <a:ext cx="2410775" cy="92135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グラフィックス 7" descr="グラフィックス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880863" y="13353952"/>
            <a:ext cx="7978149" cy="2615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00" strike="noStrike" sz="50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5080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1176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7272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3368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29464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5560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1656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7752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3848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Box 12"/>
          <p:cNvSpPr txBox="1"/>
          <p:nvPr/>
        </p:nvSpPr>
        <p:spPr>
          <a:xfrm>
            <a:off x="812407" y="11350450"/>
            <a:ext cx="12973046" cy="1384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b="1" sz="4200">
                <a:latin typeface="+mj-lt"/>
                <a:ea typeface="+mj-ea"/>
                <a:cs typeface="+mj-cs"/>
                <a:sym typeface="Arial"/>
              </a:defRPr>
            </a:pPr>
            <a:r>
              <a:t>JAVIER YAHIR</a:t>
            </a:r>
            <a:br/>
            <a:r>
              <a:t>OMX Framework — Agente ROS desacoplado</a:t>
            </a:r>
            <a:br/>
            <a:r>
              <a:t>Date: 2026/09/24</a:t>
            </a:r>
          </a:p>
        </p:txBody>
      </p:sp>
      <p:sp>
        <p:nvSpPr>
          <p:cNvPr id="460" name="タイトル 1"/>
          <p:cNvSpPr txBox="1"/>
          <p:nvPr>
            <p:ph type="title" idx="4294967295"/>
          </p:nvPr>
        </p:nvSpPr>
        <p:spPr>
          <a:xfrm>
            <a:off x="847318" y="2668515"/>
            <a:ext cx="14311058" cy="3921921"/>
          </a:xfrm>
          <a:prstGeom prst="rect">
            <a:avLst/>
          </a:prstGeom>
        </p:spPr>
        <p:txBody>
          <a:bodyPr lIns="0" tIns="0" rIns="0" bIns="0"/>
          <a:lstStyle>
            <a:lvl1pPr defTabSz="1792272">
              <a:lnSpc>
                <a:spcPct val="100000"/>
              </a:lnSpc>
              <a:spcBef>
                <a:spcPts val="500"/>
              </a:spcBef>
              <a:defRPr spc="0" sz="11956"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OMX Framework: clasificación de residuos y análisis de estanterías en kombini (vida real)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itle 1"/>
          <p:cNvSpPr txBox="1"/>
          <p:nvPr>
            <p:ph type="title"/>
          </p:nvPr>
        </p:nvSpPr>
        <p:spPr>
          <a:xfrm>
            <a:off x="847317" y="6180892"/>
            <a:ext cx="22689364" cy="1354217"/>
          </a:xfrm>
          <a:prstGeom prst="rect">
            <a:avLst/>
          </a:prstGeom>
        </p:spPr>
        <p:txBody>
          <a:bodyPr/>
          <a:lstStyle/>
          <a:p>
            <a:pPr/>
            <a:r>
              <a:t>Problema de investigación y motivación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lide Number Placeholder 5"/>
          <p:cNvSpPr txBox="1"/>
          <p:nvPr>
            <p:ph type="sldNum" sz="quarter" idx="2"/>
          </p:nvPr>
        </p:nvSpPr>
        <p:spPr>
          <a:xfrm>
            <a:off x="23726762" y="13229289"/>
            <a:ext cx="336844" cy="4876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465" name="Title 1"/>
          <p:cNvSpPr txBox="1"/>
          <p:nvPr>
            <p:ph type="title"/>
          </p:nvPr>
        </p:nvSpPr>
        <p:spPr>
          <a:xfrm>
            <a:off x="454028" y="372997"/>
            <a:ext cx="20880000" cy="836257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80000"/>
              </a:lnSpc>
              <a:spcBef>
                <a:spcPts val="0"/>
              </a:spcBef>
              <a:defRPr spc="-100" sz="5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Problema social: residuos y gestión de estanterías en tiendas tipo kombini</a:t>
            </a:r>
          </a:p>
        </p:txBody>
      </p:sp>
      <p:sp>
        <p:nvSpPr>
          <p:cNvPr id="466" name="TextBox 12"/>
          <p:cNvSpPr txBox="1"/>
          <p:nvPr/>
        </p:nvSpPr>
        <p:spPr>
          <a:xfrm>
            <a:off x="497993" y="2024202"/>
            <a:ext cx="23388014" cy="9763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/>
            <a:r>
              <a:t>En Japón y contextos urbanos densos, los kombini deben separar residuos correctamente y mantener estanterías ordenadas con poco personal.</a:t>
            </a:r>
            <a:br/>
            <a:br/>
            <a:r>
              <a:t>¿Qué problema?</a:t>
            </a:r>
            <a:br/>
            <a:r>
              <a:t>• Clasificación errática de envases/residuos en punto de recogida.</a:t>
            </a:r>
            <a:br/>
            <a:r>
              <a:t>• Falta de inventario visual frecuente en pasillos estrechos.</a:t>
            </a:r>
            <a:br/>
            <a:br/>
            <a:r>
              <a:t>¿A quién afecta?</a:t>
            </a:r>
            <a:br/>
            <a:r>
              <a:t>• Operadores, clientes y políticas de sostenibilidad local.</a:t>
            </a:r>
            <a:br/>
            <a:br/>
            <a:r>
              <a:t>¿Por qué las soluciones actuales fallan?</a:t>
            </a:r>
            <a:br/>
            <a:r>
              <a:t>• Sistemas monolíticos ROS+LLM difíciles de desplegar en el robot real.</a:t>
            </a:r>
            <a:br/>
            <a:r>
              <a:t>• Poca separación entre “razonamiento del agente” y “ejecución ROS”.</a:t>
            </a:r>
            <a:br/>
            <a:br/>
            <a:r>
              <a:t>¿Impacto si no se resuelve?</a:t>
            </a:r>
            <a:br/>
            <a:r>
              <a:t>• Multas/incumplimiento ambiental, quiebres de stock, intervención humana constante.</a:t>
            </a:r>
            <a:br/>
            <a:br/>
            <a:r>
              <a:t>¿Por qué ahora?</a:t>
            </a:r>
            <a:br/>
            <a:r>
              <a:t>• LLM maduros + ROS 2 en edge; hace falta un marco ligero y repetible para dos tareas concretas en tienda.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Example of ima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Figura sugerida: pasillo kombini + cubo de separación + estantería</a:t>
            </a:r>
          </a:p>
        </p:txBody>
      </p:sp>
      <p:sp>
        <p:nvSpPr>
          <p:cNvPr id="469" name="Slide Number"/>
          <p:cNvSpPr txBox="1"/>
          <p:nvPr>
            <p:ph type="sldNum" sz="quarter" idx="2"/>
          </p:nvPr>
        </p:nvSpPr>
        <p:spPr>
          <a:xfrm>
            <a:off x="23726762" y="13229289"/>
            <a:ext cx="336844" cy="4876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pic>
        <p:nvPicPr>
          <p:cNvPr id="47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0" t="0" r="4661" b="5714"/>
          <a:stretch>
            <a:fillRect/>
          </a:stretch>
        </p:blipFill>
        <p:spPr>
          <a:xfrm>
            <a:off x="4033570" y="1883734"/>
            <a:ext cx="14964948" cy="104571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lide Number Placeholder 5"/>
          <p:cNvSpPr txBox="1"/>
          <p:nvPr>
            <p:ph type="sldNum" sz="quarter" idx="2"/>
          </p:nvPr>
        </p:nvSpPr>
        <p:spPr>
          <a:xfrm>
            <a:off x="23726762" y="13229289"/>
            <a:ext cx="336844" cy="4876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473" name="Title 1"/>
          <p:cNvSpPr txBox="1"/>
          <p:nvPr>
            <p:ph type="title"/>
          </p:nvPr>
        </p:nvSpPr>
        <p:spPr>
          <a:xfrm>
            <a:off x="454028" y="372997"/>
            <a:ext cx="20880000" cy="836257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80000"/>
              </a:lnSpc>
              <a:spcBef>
                <a:spcPts val="0"/>
              </a:spcBef>
              <a:defRPr spc="-100" sz="5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Problema social: operación autónoma en espacio comercial reducido</a:t>
            </a:r>
          </a:p>
        </p:txBody>
      </p:sp>
      <p:sp>
        <p:nvSpPr>
          <p:cNvPr id="474" name="TextBox 12"/>
          <p:cNvSpPr txBox="1"/>
          <p:nvPr/>
        </p:nvSpPr>
        <p:spPr>
          <a:xfrm>
            <a:off x="497993" y="2024202"/>
            <a:ext cx="23388014" cy="8599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/>
            <a:r>
              <a:t>Use una figura: pasillo de kombini, cubo de separación (PET, latas, combustible) y estantería con productos.</a:t>
            </a:r>
            <a:br/>
            <a:br/>
            <a:r>
              <a:t>Mensaje corto:</a:t>
            </a:r>
            <a:br/>
            <a:r>
              <a:t>Los robots de servicio pueden ayudar en tareas repetitivas (clasificar residuo, registrar huecos en estantería), pero hoy integrar visión, lenguaje y movimiento en ROS suele requerir stacks pesados o acoplados al vendor. Se necesita un framework agnóstico al robot, con límites de seguridad y despliegue HTTP hacia el bridge ROS en el hardware real.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itle 1"/>
          <p:cNvSpPr txBox="1"/>
          <p:nvPr/>
        </p:nvSpPr>
        <p:spPr>
          <a:xfrm>
            <a:off x="847318" y="6087004"/>
            <a:ext cx="22689364" cy="135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1664253">
              <a:lnSpc>
                <a:spcPct val="100000"/>
              </a:lnSpc>
              <a:spcBef>
                <a:spcPts val="500"/>
              </a:spcBef>
              <a:defRPr b="1" sz="8008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Estado del arte: competidores y líneas base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lide Number Placeholder 5"/>
          <p:cNvSpPr txBox="1"/>
          <p:nvPr>
            <p:ph type="sldNum" sz="quarter" idx="2"/>
          </p:nvPr>
        </p:nvSpPr>
        <p:spPr>
          <a:xfrm>
            <a:off x="23726762" y="13229289"/>
            <a:ext cx="336844" cy="4876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479" name="Title 1"/>
          <p:cNvSpPr txBox="1"/>
          <p:nvPr>
            <p:ph type="title"/>
          </p:nvPr>
        </p:nvSpPr>
        <p:spPr>
          <a:xfrm>
            <a:off x="454028" y="372997"/>
            <a:ext cx="20880000" cy="836257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80000"/>
              </a:lnSpc>
              <a:spcBef>
                <a:spcPts val="0"/>
              </a:spcBef>
              <a:defRPr spc="-100" sz="5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¿Por qué el estado del arte no es suficiente?</a:t>
            </a:r>
          </a:p>
        </p:txBody>
      </p:sp>
      <p:sp>
        <p:nvSpPr>
          <p:cNvPr id="480" name="TextBox 12"/>
          <p:cNvSpPr txBox="1"/>
          <p:nvPr/>
        </p:nvSpPr>
        <p:spPr>
          <a:xfrm>
            <a:off x="497993" y="2024202"/>
            <a:ext cx="23388014" cy="12635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3200"/>
            </a:pPr>
            <a:r>
              <a:t>Tres referencias directas (mismo espacio: lenguaje + ROS + robot real):</a:t>
            </a:r>
            <a:br/>
            <a:br/>
            <a:r>
              <a:t>1. ROSA (NASA JPL) — agente conversacional ROS 1/2, amplio ecosistema académico.</a:t>
            </a:r>
            <a:br/>
            <a:r>
              <a:t>2. ROS-LLM (Auromix) — integración rápida GPT + funciones ROS para navegación/movimiento.</a:t>
            </a:r>
            <a:br/>
            <a:r>
              <a:t>3. ROSClaw — runtime physical-AI con daemon, permisos REAL y MCP; foco en seguridad corporal.</a:t>
            </a:r>
            <a:br/>
            <a:br/>
            <a:r>
              <a:t>Criterios: código público, papers/demos, tareas language-conditioned, despliegue en robot.</a:t>
            </a:r>
            <a:br/>
            <a:br/>
            <a:r>
              <a:t>OMX Framework no compite en “otro paper de navegación semántica”, sino en:</a:t>
            </a:r>
            <a:br/>
            <a:r>
              <a:t>• Desacoplar agente (LangGraph ReAct + OpenAI) del robot vía REST.</a:t>
            </a:r>
            <a:br/>
            <a:r>
              <a:t>• Perfiles JSON por robot (`configs/robots/`) sin reescribir el agente.</a:t>
            </a:r>
            <a:br/>
            <a:r>
              <a:t>• Dos casos de uso kombini acotados para evidencia en vida real.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Method — Main Author et al., Venue, Yea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ROSA — NASA JPL (ROS Agent)</a:t>
            </a:r>
          </a:p>
        </p:txBody>
      </p:sp>
      <p:sp>
        <p:nvSpPr>
          <p:cNvPr id="483" name="Slide Number"/>
          <p:cNvSpPr txBox="1"/>
          <p:nvPr>
            <p:ph type="sldNum" sz="quarter" idx="2"/>
          </p:nvPr>
        </p:nvSpPr>
        <p:spPr>
          <a:xfrm>
            <a:off x="23726762" y="13229289"/>
            <a:ext cx="336844" cy="4876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484" name="TextBox 12"/>
          <p:cNvSpPr txBox="1"/>
          <p:nvPr/>
        </p:nvSpPr>
        <p:spPr>
          <a:xfrm>
            <a:off x="497993" y="2024202"/>
            <a:ext cx="23388014" cy="2668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3200"/>
            </a:pPr>
          </a:p>
        </p:txBody>
      </p:sp>
      <p:sp>
        <p:nvSpPr>
          <p:cNvPr id="485" name="TextBox 12"/>
          <p:cNvSpPr txBox="1"/>
          <p:nvPr/>
        </p:nvSpPr>
        <p:spPr>
          <a:xfrm>
            <a:off x="497993" y="2024202"/>
            <a:ext cx="23388014" cy="2668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3200"/>
            </a:pPr>
            <a:r>
              <a:t>Agente de lenguaje natural que descubre e invoca capacidades ROS; ROS 1/2; arXiv 2410.06472.</a:t>
            </a:r>
          </a:p>
        </p:txBody>
      </p:sp>
      <p:sp>
        <p:nvSpPr>
          <p:cNvPr id="486" name="What?"/>
          <p:cNvSpPr txBox="1"/>
          <p:nvPr/>
        </p:nvSpPr>
        <p:spPr>
          <a:xfrm>
            <a:off x="682360" y="3898425"/>
            <a:ext cx="158242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¿Qué?</a:t>
            </a:r>
            <a:br/>
            <a:r>
              <a:t>Interacción en lenguaje natural con sistemas ROS existentes.</a:t>
            </a:r>
          </a:p>
        </p:txBody>
      </p:sp>
      <p:sp>
        <p:nvSpPr>
          <p:cNvPr id="487" name="How?"/>
          <p:cNvSpPr txBox="1"/>
          <p:nvPr/>
        </p:nvSpPr>
        <p:spPr>
          <a:xfrm>
            <a:off x="12254055" y="4017111"/>
            <a:ext cx="14401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¿Cómo?</a:t>
            </a:r>
            <a:br/>
            <a:r>
              <a:t>Herramientas ROS generadas + LLM en el mismo entorno ROS.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Results"/>
          <p:cNvSpPr txBox="1"/>
          <p:nvPr>
            <p:ph type="body" sz="half" idx="1"/>
          </p:nvPr>
        </p:nvSpPr>
        <p:spPr>
          <a:xfrm>
            <a:off x="748712" y="755753"/>
            <a:ext cx="10934354" cy="10228764"/>
          </a:xfrm>
          <a:prstGeom prst="rect">
            <a:avLst/>
          </a:prstGeom>
        </p:spPr>
        <p:txBody>
          <a:bodyPr/>
          <a:lstStyle/>
          <a:p>
            <a:pPr/>
            <a:r>
              <a:t>Resultados</a:t>
            </a:r>
          </a:p>
        </p:txBody>
      </p:sp>
      <p:sp>
        <p:nvSpPr>
          <p:cNvPr id="490" name="Limitations"/>
          <p:cNvSpPr txBox="1"/>
          <p:nvPr/>
        </p:nvSpPr>
        <p:spPr>
          <a:xfrm>
            <a:off x="13141934" y="755753"/>
            <a:ext cx="10636051" cy="10228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08000" indent="-508000">
              <a:buSzPct val="123000"/>
              <a:buChar char="•"/>
            </a:lvl1pPr>
          </a:lstStyle>
          <a:p>
            <a:pPr/>
            <a:r>
              <a:t>Demostraciones en manipulación, diagnóstico y tareas ROS diversas; reduce barrera para operadores no expertos.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Example — NAIS — Flores et al., RSS 202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ROS-LLM — Auromix (ROS 2 Humble)</a:t>
            </a:r>
          </a:p>
        </p:txBody>
      </p:sp>
      <p:sp>
        <p:nvSpPr>
          <p:cNvPr id="4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494" name="TextBox 12"/>
          <p:cNvSpPr txBox="1"/>
          <p:nvPr/>
        </p:nvSpPr>
        <p:spPr>
          <a:xfrm>
            <a:off x="497993" y="2024202"/>
            <a:ext cx="23388014" cy="2668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3200"/>
            </a:pPr>
          </a:p>
        </p:txBody>
      </p:sp>
      <p:sp>
        <p:nvSpPr>
          <p:cNvPr id="495" name="TextBox 12"/>
          <p:cNvSpPr txBox="1"/>
          <p:nvPr/>
        </p:nvSpPr>
        <p:spPr>
          <a:xfrm>
            <a:off x="497993" y="2024202"/>
            <a:ext cx="23388014" cy="3115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3200"/>
            </a:pPr>
            <a:r>
              <a:t>GPT-4/ChatGPT + funciones ROS registradas en ~10 min; navegación y manipulación embodied.</a:t>
            </a:r>
          </a:p>
        </p:txBody>
      </p:sp>
      <p:sp>
        <p:nvSpPr>
          <p:cNvPr id="496" name="What?"/>
          <p:cNvSpPr txBox="1"/>
          <p:nvPr/>
        </p:nvSpPr>
        <p:spPr>
          <a:xfrm>
            <a:off x="682360" y="3898425"/>
            <a:ext cx="158242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¿Qué?</a:t>
            </a:r>
            <a:br/>
            <a:r>
              <a:t>Control y diálogo con cualquier robot ROS.</a:t>
            </a:r>
          </a:p>
        </p:txBody>
      </p:sp>
      <p:sp>
        <p:nvSpPr>
          <p:cNvPr id="497" name="How?"/>
          <p:cNvSpPr txBox="1"/>
          <p:nvPr/>
        </p:nvSpPr>
        <p:spPr>
          <a:xfrm>
            <a:off x="12237100" y="3898425"/>
            <a:ext cx="144018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¿Cómo?</a:t>
            </a:r>
            <a:br/>
            <a:r>
              <a:t>LLM + callbacks ROS en el mismo stack del robot.</a:t>
            </a:r>
          </a:p>
        </p:txBody>
      </p:sp>
      <p:pic>
        <p:nvPicPr>
          <p:cNvPr id="498" name="Screenshot 2026-09-14 at 11.04.09.png" descr="Screenshot 2026-09-14 at 11.04.0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5200" y="5036665"/>
            <a:ext cx="8481553" cy="8247255"/>
          </a:xfrm>
          <a:prstGeom prst="rect">
            <a:avLst/>
          </a:prstGeom>
          <a:ln w="12700">
            <a:miter lim="400000"/>
          </a:ln>
        </p:spPr>
      </p:pic>
      <p:pic>
        <p:nvPicPr>
          <p:cNvPr id="499" name="Screenshot 2026-09-14 at 11.04.15.png" descr="Screenshot 2026-09-14 at 11.04.1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670961" y="4233686"/>
            <a:ext cx="7978149" cy="83037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sults…"/>
          <p:cNvSpPr txBox="1"/>
          <p:nvPr>
            <p:ph type="body" sz="half" idx="1"/>
          </p:nvPr>
        </p:nvSpPr>
        <p:spPr>
          <a:xfrm>
            <a:off x="748712" y="755753"/>
            <a:ext cx="10934354" cy="10228764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Resultados</a:t>
            </a:r>
          </a:p>
        </p:txBody>
      </p:sp>
      <p:sp>
        <p:nvSpPr>
          <p:cNvPr id="502" name="Limitations…"/>
          <p:cNvSpPr txBox="1"/>
          <p:nvPr/>
        </p:nvSpPr>
        <p:spPr>
          <a:xfrm>
            <a:off x="13141934" y="755753"/>
            <a:ext cx="10636051" cy="10228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08000" indent="-508000">
              <a:buSzPct val="123000"/>
              <a:buChar char="•"/>
              <a:defRPr b="1"/>
            </a:pPr>
            <a:r>
              <a:t>Integración rápida; tutoriales para móvil y manipulación; comunidad activa en ROS 2.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tate-of-the-Art Comparison Matrix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Matriz comparativa (OMX vs estado del arte)</a:t>
            </a:r>
          </a:p>
        </p:txBody>
      </p:sp>
      <p:sp>
        <p:nvSpPr>
          <p:cNvPr id="5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06" name="Create a comparison matrix showing exactly what the strongest existing approaches can and cannot do."/>
          <p:cNvSpPr txBox="1"/>
          <p:nvPr/>
        </p:nvSpPr>
        <p:spPr>
          <a:xfrm>
            <a:off x="535617" y="1909941"/>
            <a:ext cx="23312767" cy="1258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Filas: bridge HTTP, perfil JSON, LangGraph, safety declarativa, caso residuos, caso estanterías.</a:t>
            </a:r>
            <a:br/>
            <a:r>
              <a:t>Columnas: ROSA | ROS-LLM | ROSClaw | OMX Framework.</a:t>
            </a:r>
            <a:br/>
            <a:r>
              <a:t>(Completar tabla en PowerPoint con ✓ / ○ / —)</a:t>
            </a:r>
          </a:p>
        </p:txBody>
      </p:sp>
      <p:graphicFrame>
        <p:nvGraphicFramePr>
          <p:cNvPr id="507" name="Table 1"/>
          <p:cNvGraphicFramePr/>
          <p:nvPr/>
        </p:nvGraphicFramePr>
        <p:xfrm>
          <a:off x="1743327" y="3966740"/>
          <a:ext cx="21216393" cy="7972583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{C7B018BB-80A7-4F77-B60F-C8B233D01FF8}</a:tableStyleId>
              </a:tblPr>
              <a:tblGrid>
                <a:gridCol w="5300923"/>
                <a:gridCol w="5300923"/>
                <a:gridCol w="5300923"/>
                <a:gridCol w="5300923"/>
              </a:tblGrid>
              <a:tr h="132664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Feature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Method1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Method 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Method 4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32664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/>
                        <a:t>Feature 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326647">
                <a:tc>
                  <a:txBody>
                    <a:bodyPr/>
                    <a:lstStyle/>
                    <a:p>
                      <a:pPr defTabSz="914400">
                        <a:defRPr b="0"/>
                      </a:pPr>
                      <a:r>
                        <a:rPr sz="3200"/>
                        <a:t>Feature 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326647">
                <a:tc>
                  <a:txBody>
                    <a:bodyPr/>
                    <a:lstStyle/>
                    <a:p>
                      <a:pPr defTabSz="914400">
                        <a:defRPr b="0"/>
                      </a:pPr>
                      <a:r>
                        <a:rPr sz="3200"/>
                        <a:t>Feature 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326647">
                <a:tc>
                  <a:txBody>
                    <a:bodyPr/>
                    <a:lstStyle/>
                    <a:p>
                      <a:pPr defTabSz="914400">
                        <a:defRPr b="0"/>
                      </a:pPr>
                      <a:r>
                        <a:rPr sz="3200"/>
                        <a:t>Feature 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326647">
                <a:tc>
                  <a:txBody>
                    <a:bodyPr/>
                    <a:lstStyle/>
                    <a:p>
                      <a:pPr defTabSz="914400">
                        <a:defRPr b="0"/>
                      </a:pPr>
                      <a:r>
                        <a:rPr sz="3200"/>
                        <a:t>Main Limitation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Example — NAIS — Flores et al., RSS 202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ROSClaw — runtime physical-AI</a:t>
            </a:r>
          </a:p>
        </p:txBody>
      </p:sp>
      <p:sp>
        <p:nvSpPr>
          <p:cNvPr id="5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11" name="TextBox 12"/>
          <p:cNvSpPr txBox="1"/>
          <p:nvPr/>
        </p:nvSpPr>
        <p:spPr>
          <a:xfrm>
            <a:off x="497993" y="2024202"/>
            <a:ext cx="23388014" cy="2668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3200"/>
            </a:pPr>
          </a:p>
        </p:txBody>
      </p:sp>
      <p:sp>
        <p:nvSpPr>
          <p:cNvPr id="512" name="TextBox 12"/>
          <p:cNvSpPr txBox="1"/>
          <p:nvPr/>
        </p:nvSpPr>
        <p:spPr>
          <a:xfrm>
            <a:off x="497993" y="2024202"/>
            <a:ext cx="23388014" cy="3115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>
              <a:defRPr sz="3200"/>
            </a:pPr>
            <a:r>
              <a:t>Daemon rosclawd, REAL/SHADOW, perfiles de cuerpo, MCP, receipts de ejecución; foco seguridad.</a:t>
            </a:r>
          </a:p>
        </p:txBody>
      </p:sp>
      <p:sp>
        <p:nvSpPr>
          <p:cNvPr id="513" name="What?"/>
          <p:cNvSpPr txBox="1"/>
          <p:nvPr/>
        </p:nvSpPr>
        <p:spPr>
          <a:xfrm>
            <a:off x="682360" y="3898425"/>
            <a:ext cx="158242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¿Qué?</a:t>
            </a:r>
            <a:br/>
            <a:r>
              <a:t>Control físico con frontera de privilegios y simulación.</a:t>
            </a:r>
          </a:p>
        </p:txBody>
      </p:sp>
      <p:sp>
        <p:nvSpPr>
          <p:cNvPr id="514" name="How?"/>
          <p:cNvSpPr txBox="1"/>
          <p:nvPr/>
        </p:nvSpPr>
        <p:spPr>
          <a:xfrm>
            <a:off x="12237100" y="3898425"/>
            <a:ext cx="144018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¿Cómo?</a:t>
            </a:r>
            <a:br/>
            <a:r>
              <a:t>Agente vía MCP; sin ROS directo desde el chat.</a:t>
            </a:r>
          </a:p>
        </p:txBody>
      </p:sp>
      <p:pic>
        <p:nvPicPr>
          <p:cNvPr id="515" name="Screenshot 2026-09-14 at 11.04.09.png" descr="Screenshot 2026-09-14 at 11.04.0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5200" y="5036665"/>
            <a:ext cx="8481553" cy="824725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" name="Screenshot 2026-09-14 at 11.04.15.png" descr="Screenshot 2026-09-14 at 11.04.1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670961" y="4233686"/>
            <a:ext cx="7978149" cy="83037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State-of-the-Art G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lnSpc>
                <a:spcPct val="80000"/>
              </a:lnSpc>
              <a:spcBef>
                <a:spcPts val="0"/>
              </a:spcBef>
              <a:defRPr spc="-97" sz="485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Brecha de investigación (research gap)</a:t>
            </a:r>
          </a:p>
        </p:txBody>
      </p:sp>
      <p:sp>
        <p:nvSpPr>
          <p:cNvPr id="5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20" name="Goal: Clearly show what is still missing in current research and why solving it is important.…"/>
          <p:cNvSpPr txBox="1"/>
          <p:nvPr/>
        </p:nvSpPr>
        <p:spPr>
          <a:xfrm>
            <a:off x="550540" y="1669857"/>
            <a:ext cx="23531383" cy="12478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Cómo identificar la brecha:</a:t>
            </a:r>
            <a:br/>
            <a:r>
              <a:t>1. Competidores resuelven bien “ROS + LLM”, pero con distintos trade-offs (acoplamiento, seguridad pesada, o generalidad extrema).</a:t>
            </a:r>
            <a:br/>
            <a:r>
              <a:t>2. La matriz muestra falta de un marco ligero: agente en laptop/cloud, robot en edge con bridge REST, dos pipelines de percepción para kombini.</a:t>
            </a:r>
            <a:br/>
            <a:r>
              <a:t>3. La brecha importa porque el despliegue real en tienda exige iterar visión y movimiento sin recompilar todo el stack cada semana.</a:t>
            </a:r>
            <a:br/>
            <a:br/>
            <a:r>
              <a:t>Brecha:</a:t>
            </a:r>
            <a:br/>
            <a:r>
              <a:t>Falta un framework ROS-agente minimalista, reproducible y robot-agnóstico, optimizado para (A) clasificación de residuos/objetos en punto kombini y (B) navegación + análisis de estanterías, con límites de seguridad declarativos.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imple example — NA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Ejemplo brecha — OMX Framework</a:t>
            </a:r>
          </a:p>
        </p:txBody>
      </p:sp>
      <p:sp>
        <p:nvSpPr>
          <p:cNvPr id="5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24" name="What exists: Existing systems can create semantic maps, understand language, or navigate robots.…"/>
          <p:cNvSpPr txBox="1"/>
          <p:nvPr/>
        </p:nvSpPr>
        <p:spPr>
          <a:xfrm>
            <a:off x="577376" y="2790992"/>
            <a:ext cx="22988005" cy="6879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Qué existe:</a:t>
            </a:r>
            <a:br/>
            <a:r>
              <a:t>ROSA/ROS-LLM/ROSClaw cubren lenguaje + ROS con distintos niveles de seguridad y acoplamiento.</a:t>
            </a:r>
            <a:br/>
            <a:br/>
            <a:r>
              <a:t>Qué falta:</a:t>
            </a:r>
            <a:br/>
            <a:r>
              <a:t>Una línea directa Chat UI → LangGraph → tools desde JSON → bridge HTTP → ROS 2 en el robot OMX / base móvil, con prompts y tools específicos para residuos y shelf-audit.</a:t>
            </a:r>
            <a:br/>
            <a:br/>
            <a:r>
              <a:t>Por qué importa:</a:t>
            </a:r>
            <a:br/>
            <a:r>
              <a:t>Permite pilotos en kombini real con el mismo código del agente cambiando solo `configs/robots/*.json` y el bridge (`omx_bridge.py`, futuro `kombini_mobile_bridge`).</a:t>
            </a:r>
          </a:p>
        </p:txBody>
      </p:sp>
      <p:sp>
        <p:nvSpPr>
          <p:cNvPr id="525" name="Rounded Rectangle"/>
          <p:cNvSpPr/>
          <p:nvPr/>
        </p:nvSpPr>
        <p:spPr>
          <a:xfrm>
            <a:off x="739643" y="9291873"/>
            <a:ext cx="22396259" cy="3258650"/>
          </a:xfrm>
          <a:prstGeom prst="roundRect">
            <a:avLst>
              <a:gd name="adj" fmla="val 11029"/>
            </a:avLst>
          </a:prstGeom>
          <a:solidFill>
            <a:schemeClr val="accent2">
              <a:hueOff val="192982"/>
              <a:satOff val="17755"/>
              <a:lumOff val="-2848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Research Gap:</a:t>
            </a:r>
          </a:p>
        </p:txBody>
      </p:sp>
      <p:sp>
        <p:nvSpPr>
          <p:cNvPr id="526" name="Existing approaches provide strong mapping, scene understanding, and language-guided navigation, but integrating these capabilities into one modular, real-time robot system remains challenging."/>
          <p:cNvSpPr txBox="1"/>
          <p:nvPr/>
        </p:nvSpPr>
        <p:spPr>
          <a:xfrm>
            <a:off x="1236256" y="10022647"/>
            <a:ext cx="21670244" cy="17971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Un framework desacoplado que una clasificación de residuos y auditoría de estanterías con métricas de tienda (precisión, cobertura, tiempo por pasillo).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itle 1"/>
          <p:cNvSpPr txBox="1"/>
          <p:nvPr/>
        </p:nvSpPr>
        <p:spPr>
          <a:xfrm>
            <a:off x="847318" y="6087004"/>
            <a:ext cx="22689364" cy="135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1828849">
              <a:lnSpc>
                <a:spcPct val="100000"/>
              </a:lnSpc>
              <a:spcBef>
                <a:spcPts val="600"/>
              </a:spcBef>
              <a:defRPr b="1" sz="88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Objetivo de investigación y preguntas (RQs)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Objeti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Objetivo</a:t>
            </a:r>
          </a:p>
        </p:txBody>
      </p:sp>
      <p:sp>
        <p:nvSpPr>
          <p:cNvPr id="5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32" name="Clearly explain what your research aims to achieve and what questions your study will answer.…"/>
          <p:cNvSpPr txBox="1"/>
          <p:nvPr/>
        </p:nvSpPr>
        <p:spPr>
          <a:xfrm>
            <a:off x="543466" y="1696829"/>
            <a:ext cx="22988004" cy="11902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Objetivo principal:</a:t>
            </a:r>
            <a:br/>
            <a:r>
              <a:t>Desarrollar y validar OMX Framework — agente LangGraph ReAct con OpenAI conectado a ROS 2 solo vía bridge HTTP y perfiles JSON — para dos aplicaciones en kombini real:</a:t>
            </a:r>
            <a:br/>
            <a:r>
              <a:t>(1) clasificación y deposición asistida de residuos/objetos,</a:t>
            </a:r>
            <a:br/>
            <a:r>
              <a:t>(2) navegación autónoma en pasillo con análisis de estanterías (huecos, desorden, etiquetas).</a:t>
            </a:r>
            <a:br/>
            <a:br/>
            <a:r>
              <a:t>Debe diferenciarse por desacoplamiento operativo (agente sin ROS local), configuración declarativa y foco en evidencia de piloto retail, no en runtime de seguridad industrial completo.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Research Ques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Preguntas de investigación</a:t>
            </a:r>
          </a:p>
        </p:txBody>
      </p:sp>
      <p:sp>
        <p:nvSpPr>
          <p:cNvPr id="5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36" name="2. Define 2–4 Research Questions (RQs)…"/>
          <p:cNvSpPr txBox="1"/>
          <p:nvPr/>
        </p:nvSpPr>
        <p:spPr>
          <a:xfrm>
            <a:off x="543466" y="1934576"/>
            <a:ext cx="22988004" cy="10850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RQ1 — Clasificación de residuos:</a:t>
            </a:r>
            <a:br/>
            <a:r>
              <a:t>¿El agente con visión + tools de brazo/gripper alcanza precisión y tiempo aceptables vs operador en cubo kombini?</a:t>
            </a:r>
            <a:br/>
            <a:r>
              <a:t>→ Métricas: accuracy por clase (PET, lata, combustible, otros), tiempo por objeto, tasa de reintento.</a:t>
            </a:r>
            <a:br/>
            <a:br/>
            <a:r>
              <a:t>RQ2 — Auditoría de estantería:</a:t>
            </a:r>
            <a:br/>
            <a:r>
              <a:t>¿La navegación (cmd_vel / futuro base) + capturas programadas cubren ≥X% de frente de estantería por pasillo?</a:t>
            </a:r>
            <a:br/>
            <a:r>
              <a:t>→ Métricas: cobertura (%), detección de hueco/OOS, tiempo por pasillo de 10 m.</a:t>
            </a:r>
            <a:br/>
            <a:br/>
            <a:r>
              <a:t>RQ3 — Usabilidad del framework:</a:t>
            </a:r>
            <a:br/>
            <a:r>
              <a:t>¿Cambiar de turtlesim → OMX-F → móvil kombini solo con JSON + bridge reduce horas de integración vs fork ROS-LLM?</a:t>
            </a:r>
            <a:br/>
            <a:r>
              <a:t>→ Métrica: horas de integración, líneas de código nuevas.</a:t>
            </a:r>
            <a:br/>
            <a:br/>
            <a:r>
              <a:t>RQ4 — Seguridad operativa:</a:t>
            </a:r>
            <a:br/>
            <a:r>
              <a:t>¿Los límites en `safety.py` + perfil JSON evitan comandos fuera de rango en pruebas reales?</a:t>
            </a:r>
            <a:br/>
            <a:r>
              <a:t>→ Métricas: violaciones bloqueadas, incidentes (0 deseado).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itle 1"/>
          <p:cNvSpPr txBox="1"/>
          <p:nvPr/>
        </p:nvSpPr>
        <p:spPr>
          <a:xfrm>
            <a:off x="847318" y="6087004"/>
            <a:ext cx="22689364" cy="135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1828849">
              <a:lnSpc>
                <a:spcPct val="100000"/>
              </a:lnSpc>
              <a:spcBef>
                <a:spcPts val="600"/>
              </a:spcBef>
              <a:defRPr b="1" sz="88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Enfoque propuesto / metodología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ropos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Propuesta — OMX Framework</a:t>
            </a:r>
          </a:p>
        </p:txBody>
      </p:sp>
      <p:sp>
        <p:nvSpPr>
          <p:cNvPr id="5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42" name="Explain how you plan to solve the research problem and answer your Research Questions.…"/>
          <p:cNvSpPr txBox="1"/>
          <p:nvPr/>
        </p:nvSpPr>
        <p:spPr>
          <a:xfrm>
            <a:off x="578135" y="1457375"/>
            <a:ext cx="21527163" cy="13073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Idea central:</a:t>
            </a:r>
            <a:br/>
            <a:r>
              <a:t>Capas fijas: Chat UI (:8501) → `agent/graph.py` (ReAct) → `tools_lc.py` (desde perfil) → `adapter/http_bridge.py` → `bridge/*_bridge.py` → ROS 2.</a:t>
            </a:r>
            <a:br/>
            <a:br/>
            <a:r>
              <a:t>Componentes nuevos para kombini:</a:t>
            </a:r>
            <a:br/>
            <a:r>
              <a:t>• Módulo visión (detector residuo / producto) expuesto como tool o pre-proceso en bridge.</a:t>
            </a:r>
            <a:br/>
            <a:r>
              <a:t>• Perfil `kombini_mobile.json` (navegación) + `open_manipulator_omx_f.json` (manipulación).</a:t>
            </a:r>
            <a:br/>
            <a:r>
              <a:t>• Prompts en `prompts.py` con políticas de tienda (no bloquear pasillo, confirmar clase antes de soltar).</a:t>
            </a:r>
            <a:br/>
            <a:br/>
            <a:r>
              <a:t>Novedad vs SOTA:</a:t>
            </a:r>
            <a:br/>
            <a:r>
              <a:t>Desacoplamiento HTTP + perfiles; no sustituir rosclawd ni reimplementar ROSA; foco en dos KPIs de tienda.</a:t>
            </a:r>
            <a:br/>
            <a:br/>
            <a:r>
              <a:t>Evaluación:</a:t>
            </a:r>
            <a:br/>
            <a:r>
              <a:t>Baseline: operador manual + script ROS sin LLM; comparar con agente OMX en mismos escenarios.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Examp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Arquitectura OMX (añadir captura del README)</a:t>
            </a:r>
          </a:p>
        </p:txBody>
      </p:sp>
      <p:sp>
        <p:nvSpPr>
          <p:cNvPr id="5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Chat UI ──HTTP──► LangGraph ReAct ──HTTP──► Bridge REST ──► ROS 2</a:t>
            </a:r>
            <a:br/>
            <a:r>
              <a:t>                         ▲</a:t>
            </a:r>
            <a:br/>
            <a:r>
              <a:t>                 configs/robots/*.json</a:t>
            </a:r>
          </a:p>
        </p:txBody>
      </p:sp>
      <p:pic>
        <p:nvPicPr>
          <p:cNvPr id="54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49825" y="1935905"/>
            <a:ext cx="15013201" cy="106024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itle 1"/>
          <p:cNvSpPr txBox="1"/>
          <p:nvPr/>
        </p:nvSpPr>
        <p:spPr>
          <a:xfrm>
            <a:off x="847318" y="6087004"/>
            <a:ext cx="22689364" cy="135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1828849">
              <a:lnSpc>
                <a:spcPct val="100000"/>
              </a:lnSpc>
              <a:spcBef>
                <a:spcPts val="600"/>
              </a:spcBef>
              <a:defRPr b="1" sz="88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Sistema / configuración experimental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ystem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Arquitectura del sistema</a:t>
            </a:r>
          </a:p>
        </p:txBody>
      </p:sp>
      <p:sp>
        <p:nvSpPr>
          <p:cNvPr id="5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52" name="Show where, with what, and how your research will be tested.…"/>
          <p:cNvSpPr txBox="1"/>
          <p:nvPr/>
        </p:nvSpPr>
        <p:spPr>
          <a:xfrm>
            <a:off x="374673" y="1677885"/>
            <a:ext cx="21527163" cy="12462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Hardware:</a:t>
            </a:r>
            <a:br/>
            <a:r>
              <a:t>• OpenMANIPULATOR OMX-F (brazo) + cámara RGB(D) en muñeca o torso.</a:t>
            </a:r>
            <a:br/>
            <a:r>
              <a:t>• Base móvil differential-drive (planeada) para pasillo kombini — o teleop inicial.</a:t>
            </a:r>
            <a:br/>
            <a:r>
              <a:t>• PC edge en robot (Docker ROS 2 Jazzy) + laptop para agente.</a:t>
            </a:r>
            <a:br/>
            <a:br/>
            <a:r>
              <a:t>Software:</a:t>
            </a:r>
            <a:br/>
            <a:r>
              <a:t>• OMX: Python 3.10+, LangGraph, OpenAI (`gpt-4o-mini` default).</a:t>
            </a:r>
            <a:br/>
            <a:r>
              <a:t>• Bridges: `omx_bridge.py`, `turtlesim_bridge.py` (sanity), futuro bridge móvil.</a:t>
            </a:r>
            <a:br/>
            <a:r>
              <a:t>• Visión: modelo clasificación residuos (entrenar/fine-tune con datos tienda).</a:t>
            </a:r>
            <a:br/>
            <a:br/>
            <a:r>
              <a:t>Escenarios:</a:t>
            </a:r>
            <a:br/>
            <a:r>
              <a:t>A) Cubo de residuos junto a caja — pick, classify, deposit.</a:t>
            </a:r>
            <a:br/>
            <a:r>
              <a:t>B) Un pasillo — waypoints, paradas, fotos de estantería, informe JSON.</a:t>
            </a:r>
            <a:br/>
            <a:br/>
            <a:r>
              <a:t>Métricas ligadas a RQ1–RQ4.</a:t>
            </a:r>
          </a:p>
        </p:txBody>
      </p:sp>
      <p:sp>
        <p:nvSpPr>
          <p:cNvPr id="553" name="Key message:…"/>
          <p:cNvSpPr txBox="1"/>
          <p:nvPr/>
        </p:nvSpPr>
        <p:spPr>
          <a:xfrm>
            <a:off x="15119033" y="5583911"/>
            <a:ext cx="8977489" cy="4040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Mensaje clave:</a:t>
            </a:r>
            <a:br/>
            <a:r>
              <a:t>Misma arquitectura agente/bridge para simulación (turtlesim) y piloto kombini real.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Title 1"/>
          <p:cNvSpPr txBox="1"/>
          <p:nvPr/>
        </p:nvSpPr>
        <p:spPr>
          <a:xfrm>
            <a:off x="847318" y="6087004"/>
            <a:ext cx="22689364" cy="1354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1828849">
              <a:lnSpc>
                <a:spcPct val="100000"/>
              </a:lnSpc>
              <a:spcBef>
                <a:spcPts val="600"/>
              </a:spcBef>
              <a:defRPr b="1" sz="88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Trabajo completado desde la última actualización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Update: YEAR/MM/D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Actualización: 2026/09/24</a:t>
            </a:r>
          </a:p>
        </p:txBody>
      </p:sp>
      <p:sp>
        <p:nvSpPr>
          <p:cNvPr id="5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59" name="Clearly show what you actually accomplished since your previous presentation. This should be one of the most important slides in every progress meeting.…"/>
          <p:cNvSpPr txBox="1"/>
          <p:nvPr/>
        </p:nvSpPr>
        <p:spPr>
          <a:xfrm>
            <a:off x="408584" y="1621535"/>
            <a:ext cx="21527163" cy="11863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Logros concretos (repositorio omx-framework):</a:t>
            </a:r>
            <a:br/>
            <a:r>
              <a:t>✓ Agente LangGraph ReAct con OpenAI y servidor chat HTTP.</a:t>
            </a:r>
            <a:br/>
            <a:r>
              <a:t>✓ Adapter HTTP y contrato REST documentado (`bridge/README.md`).</a:t>
            </a:r>
            <a:br/>
            <a:r>
              <a:t>✓ Bridge OMX-F para ROS 2 Jazzy (`omx_bridge.py`) + demo turtlesim Docker.</a:t>
            </a:r>
            <a:br/>
            <a:r>
              <a:t>✓ Perfiles JSON (`open_manipulator_omx_f.json`, `generic_arm.json`, `turtlesim.json`).</a:t>
            </a:r>
            <a:br/>
            <a:r>
              <a:t>✓ Capa `safety.py` con límites por paso de articulaciones.</a:t>
            </a:r>
            <a:br/>
            <a:r>
              <a:t>✓ Tests unitarios de seguridad (`tests/test_safety.py`).</a:t>
            </a:r>
            <a:br/>
            <a:br/>
            <a:r>
              <a:t>Pendiente hacia kombini:</a:t>
            </a:r>
            <a:br/>
            <a:r>
              <a:t>○ Tool de visión residuos / shelf-audit</a:t>
            </a:r>
            <a:br/>
            <a:r>
              <a:t>○ Bridge base móvil y waypoints</a:t>
            </a:r>
            <a:br/>
            <a:r>
              <a:t>○ Dataset y experimentos en entorno tipo kombini</a:t>
            </a:r>
          </a:p>
        </p:txBody>
      </p:sp>
      <p:sp>
        <p:nvSpPr>
          <p:cNvPr id="560" name="Key message:…"/>
          <p:cNvSpPr txBox="1"/>
          <p:nvPr/>
        </p:nvSpPr>
        <p:spPr>
          <a:xfrm>
            <a:off x="12241465" y="5614832"/>
            <a:ext cx="11890560" cy="349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Mensaje clave:</a:t>
            </a:r>
            <a:br/>
            <a:r>
              <a:t>Base del framework lista; siguiente hito = piloto caso (1) clasificación de residuos.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Main Issues &amp; Open Proble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Problemas abiertos y riesgos</a:t>
            </a:r>
          </a:p>
        </p:txBody>
      </p:sp>
      <p:sp>
        <p:nvSpPr>
          <p:cNvPr id="5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64" name="Goal: Clearly explain what is currently not working, what is slowing the research, or what needs to be solved.…"/>
          <p:cNvSpPr txBox="1"/>
          <p:nvPr/>
        </p:nvSpPr>
        <p:spPr>
          <a:xfrm>
            <a:off x="459449" y="2431218"/>
            <a:ext cx="21527163" cy="10786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1) Visión en tienda real</a:t>
            </a:r>
            <a:br/>
            <a:r>
              <a:t>Problema: reflejos en envases PET y etiquetas pequeñas.</a:t>
            </a:r>
            <a:br/>
            <a:r>
              <a:t>Causa: iluminación kombini + ángulo cámara.</a:t>
            </a:r>
            <a:br/>
            <a:r>
              <a:t>Probado: ajuste umbral en simulación.</a:t>
            </a:r>
            <a:br/>
            <a:r>
              <a:t>Siguiente: recopilar 200+ imágenes locales, fine-tune detector.</a:t>
            </a:r>
            <a:br/>
            <a:br/>
            <a:r>
              <a:t>2) Latencia LLM + movimiento</a:t>
            </a:r>
            <a:br/>
            <a:r>
              <a:t>Problema: ReAct multi-paso lento para objetos en cinta rápida.</a:t>
            </a:r>
            <a:br/>
            <a:r>
              <a:t>Causa: iteraciones OpenAI + planificación secuencial.</a:t>
            </a:r>
            <a:br/>
            <a:r>
              <a:t>Probado: reducir `ROS_AGENT_MAX_ITERATIONS`, cache de clases frecuentes.</a:t>
            </a:r>
            <a:br/>
            <a:r>
              <a:t>Siguiente: modo “clasificar una vez” con tool única.</a:t>
            </a:r>
            <a:br/>
            <a:br/>
            <a:r>
              <a:t>3) Base móvil no integrada aún</a:t>
            </a:r>
            <a:br/>
            <a:r>
              <a:t>Problema: RQ2 no evaluable en pasillo real.</a:t>
            </a:r>
            <a:br/>
            <a:r>
              <a:t>Causa: solo brazo en bridge actual.</a:t>
            </a:r>
            <a:br/>
            <a:r>
              <a:t>Siguiente: definir REST `/cmd_vel` o `/navigate` en nuevo bridge.</a:t>
            </a:r>
            <a:br/>
            <a:br/>
            <a:r>
              <a:t>4) Seguridad en espacio público</a:t>
            </a:r>
            <a:br/>
            <a:r>
              <a:t>Problema: brazo cerca de clientes.</a:t>
            </a:r>
            <a:br/>
            <a:r>
              <a:t>Siguiente: zonas prohibidas en JSON + velocidad máxima + E-stop hardware.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Work for the Next N Wee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Trabajo para las próximas semanas</a:t>
            </a:r>
          </a:p>
        </p:txBody>
      </p:sp>
      <p:sp>
        <p:nvSpPr>
          <p:cNvPr id="5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68" name="Goal: Define exactly what you will accomplish before the next research update."/>
          <p:cNvSpPr txBox="1"/>
          <p:nvPr/>
        </p:nvSpPr>
        <p:spPr>
          <a:xfrm>
            <a:off x="850420" y="2033364"/>
            <a:ext cx="18009109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Objetivo próximo periodo (ej. 4–6 semanas):</a:t>
            </a:r>
            <a:br/>
            <a:br/>
            <a:r>
              <a:t>Semana 1–2:</a:t>
            </a:r>
            <a:br/>
            <a:r>
              <a:t>• Prototipo tool `classify_waste` + integración cámara en bridge.</a:t>
            </a:r>
            <a:br/>
            <a:r>
              <a:t>• Guion de demo caso (1) en banco de pruebas (sin público).</a:t>
            </a:r>
            <a:br/>
            <a:br/>
            <a:r>
              <a:t>Semana 3–4:</a:t>
            </a:r>
            <a:br/>
            <a:r>
              <a:t>• Esqueleto `kombini_mobile_bridge` + waypoints en mapa reducido.</a:t>
            </a:r>
            <a:br/>
            <a:r>
              <a:t>• Captura sistemática estantería → JSON de huecos.</a:t>
            </a:r>
            <a:br/>
            <a:br/>
            <a:r>
              <a:t>Semana 5–6:</a:t>
            </a:r>
            <a:br/>
            <a:r>
              <a:t>• 20+ trials residuos; tabla resultados RQ1.</a:t>
            </a:r>
            <a:br/>
            <a:r>
              <a:t>• Primer pasillo con cobertura % (RQ2 preliminar).</a:t>
            </a:r>
            <a:br/>
            <a:r>
              <a:t>• Actualizar README y slide de matriz con números reales.</a:t>
            </a:r>
          </a:p>
        </p:txBody>
      </p:sp>
      <p:graphicFrame>
        <p:nvGraphicFramePr>
          <p:cNvPr id="569" name="Table 1"/>
          <p:cNvGraphicFramePr/>
          <p:nvPr/>
        </p:nvGraphicFramePr>
        <p:xfrm>
          <a:off x="2343106" y="4185624"/>
          <a:ext cx="18930706" cy="667995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9459002"/>
                <a:gridCol w="9459002"/>
              </a:tblGrid>
              <a:tr h="133344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Task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Expected Result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33344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33344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33344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33344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Timeline &amp; Expected Outcom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Cronograma y entregables esperados</a:t>
            </a:r>
          </a:p>
        </p:txBody>
      </p:sp>
      <p:sp>
        <p:nvSpPr>
          <p:cNvPr id="5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</a:p>
        </p:txBody>
      </p:sp>
      <p:sp>
        <p:nvSpPr>
          <p:cNvPr id="573" name="Show what remains, when it will be completed, and what you expect to deliver.…"/>
          <p:cNvSpPr txBox="1"/>
          <p:nvPr/>
        </p:nvSpPr>
        <p:spPr>
          <a:xfrm>
            <a:off x="408584" y="2710367"/>
            <a:ext cx="21527163" cy="9685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✓ Completado: framework agente + bridge OMX + turtlesim + safety</a:t>
            </a:r>
            <a:br/>
            <a:r>
              <a:t>● Actual: diseño casos kombini + visión</a:t>
            </a:r>
            <a:br/>
            <a:r>
              <a:t>○ Siguiente: piloto residuos → piloto estanterías → paper/informe técnico</a:t>
            </a:r>
            <a:br/>
            <a:br/>
            <a:r>
              <a:t>Hitos:</a:t>
            </a:r>
            <a:br/>
            <a:r>
              <a:t>• M1 — Demo clasificación residuo (bench) — entregable: video + métricas</a:t>
            </a:r>
            <a:br/>
            <a:r>
              <a:t>• M2 — Navegación pasillo + shelf JSON — entregable: mapa cobertura</a:t>
            </a:r>
            <a:br/>
            <a:r>
              <a:t>• M3 — Comparativa vs baseline manual — entregable: tablas RQ1–RQ3</a:t>
            </a:r>
            <a:br/>
            <a:r>
              <a:t>• M4 — Documentación despliegue tienda — entregable: guía operador</a:t>
            </a:r>
            <a:br/>
            <a:br/>
            <a:r>
              <a:t>Entregable final:</a:t>
            </a:r>
            <a:br/>
            <a:r>
              <a:t>OMX Framework como producto open-source diferenciado (ligero, HTTP, JSON) con evidencia en dos flujos kombini reales.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ial"/>
        <a:ea typeface="Arial"/>
        <a:cs typeface="Arial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rial"/>
        <a:ea typeface="Arial"/>
        <a:cs typeface="Arial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